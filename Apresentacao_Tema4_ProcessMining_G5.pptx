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Bom dia/boa tarde a todos. Somos o Grupo G5 e hoje vamos apresentar o Tema 4 do seminário de Mineração de Dados: Process Mining. Nossa apresentação aplica técnicas de descoberta de processos e verificação de conformidade a um processo de concessão de empréstimos, inspirado na estrutura real do BPI Challenge 2017. Tempo total: 15 minutos de apresentação mais 5 minutos de perguntas.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Nossa apresentação está organizada em oito blocos: primeiro contextualizamos process mining e BPM; em seguida revisamos os conceitos fundamentais; depois explicamos os dois algoritmos de descoberta de processo que usamos, Alpha Miner e Inductive Miner; explicamos conformance checking e performance analysis; descrevemos o dataset e uma adaptação metodológica importante que tivemos que fazer; detalhamos nossa metodologia em nove etapas; apresentamos os resultados; e fechamos com insights gerenciais, limitações e conclusão.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 mining nasce na interseção entre mineração de dados e gestão de processos de negócio. Diferente do BPM tradicional, que parte de um modelo desenhado manualmente, process mining parte dos dados reais de execução — os chamados event logs — para descobrir como o processo de fato acontece. Essa diferença é central: o que está no papel nem sempre é o que ocorre na prática, e é exatamente essa lacuna que vamos investigar.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Quatro conceitos sustentam toda a análise de process mining. O event log é a matéria-prima: uma tabela de eventos. Cada evento tem um Case ID, que agrupa os eventos pertencentes à mesma instância do processo — por exemplo, um mesmo pedido de empréstimo. Cada evento também registra uma Activity, o passo executado, e um Timestamp, o momento exato em que ocorreu. A partir desses três elementos — caso, atividade e tempo — é possível reconstruir a sequência completa de cada caso, chamada de trace, e analisar o processo como um todo.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descobrir o processo a partir do log, comparamos dois algoritmos clássicos. O Alpha Miner foi o primeiro algoritmo formalizado na literatura e constrói uma rede de Petri a partir de relações de causalidade, exclusividade e paralelismo entre atividades — mas é conhecido por ter dificuldades com ruído e laços curtos. O Inductive Miner é mais moderno e trabalha com process trees, aplicando cortes recursivos; sua grande vantagem teórica é garantir que o modelo resultante seja "sólido", mas, como veremos nos resultados, quando o processo é muito variável ele pode recorrer a um modelo flor, que é pouco informativo.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Depois de descobrir um modelo, precisamos avaliar quão bem ele representa a realidade — isso é conformance checking, medido por quatro métricas complementares: fitness, precision, generalization e simplicity. Um bom modelo equilibra essas quatro dimensões; veremos que isso nem sempre acontece. Já a performance analysis foca no tempo: medimos quanto tempo o processo gasta entre uma atividade e outra, identificando os chamados bottlenecks, ou gargalos — pontos onde o processo trava ou demora mais, e que se tornam alvos prioritários de melhoria.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ponto de transparência metodológica importante: o ambiente de execução deste projeto não tinha acesso à internet, o que impediu o download do dataset real do BPI Challenge 2017 e também da biblioteca PM4Py, que é o padrão de mercado para process mining em Python. Diante disso, a decisão metodológica foi gerar um log sintético fiel à estrutura documentada do BPI17 — mesmas atividades, mesma lógica de processo de concessão de empréstimos — e implementar nós mesmos, em Python puro, os algoritmos de Alpha Miner, Inductive Miner, conformance checking e performance analysis. Essa adaptação está documentada de forma transparente em todos os três entregáveis do projeto.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metodologia foi estruturada em nove etapas sequenciais, das quais a primeira — a geração do log sintético — é a única adaptação em relação ao plano original com dados reais. As etapas seguintes seguem o pipeline clássico de process mining: validação dos dados, análise exploratória, construção do grafo de seguimento direto, descoberta de processo com dois algoritmos, verificação de conformidade, análise de performance, análise de variantes e, por fim, síntese crítica dos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log sintético contém 3000 casos e 54597 eventos, distribuídos em 23 atividades distintas, com uma média de 18.2 eventos por caso. À esquerda vemos a frequência de cada atividade: A_Create Application aparece em todos os casos, como ponto de partida único, enquanto atividades de avaliação e validação se repetem conforme o caso exige retrabalho. À direita, a distribuição temporal mostra o volume de eventos ao longo do período de 2016-01-01 a 2017-01-12. Identificamos 169 variantes de processo distintas, sendo que a variante mais comum responde por 19.3% dos casos.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comparamos o grafo de seguimento direto completo, à esquerda, com sua versão filtrada por frequência, à direita — esse filtro evidencia o fluxo principal do processo, removendo conexões raras que adicionam ruído visual. A partir desse grafo, o Alpha Miner gerou uma rede de Petri com 23 lugares e 23 transições, capturando razoavelmente bem a estrutura sequencial do processo. Já o Inductive Miner, dada a alta variabilidade do log — 169 variantes — não encontrou um corte estrutural limpo e recorreu ao modelo flor, com 23 folhas, que é uma simplificação conhecida na literatura para logs muito ruidosos ou variáveis.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resultados de conformance checking confirmam o trade-off clássico da literatura. O modelo do Alpha Miner obteve fitness de 0.99 e precision de 1.00 — um equilíbrio saudável entre reproduzir o log e não ser genérico demais. Já o modelo flor do Inductive Miner atinge fitness de 1.00, quase perfeita, mas sua precision despenca para 0.07: ele aceita praticamente qualquer sequência de atividades, o que o torna pouco útil para diagnóstico real do processo. Esse contraste ilustra exatamente por que nenhuma métrica isolada deve ser usada para avaliar um modelo de processo.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análise de performance revelou que o maior gargalo do processo está na transição de 'O_Sent (mail and online)' para 'W_Call after offers', com tempo médio de espera de 30.4 horas — cerca de 1.3 dias — distribuído ao longo de 4041 ocorrências. É importante notar que o percentil 90 chega a 64.7 horas, evidenciando que uma fração relevante dos casos espera muito mais do que a média sugere. Esse tipo de gargalo é exatamente o tipo de insight que orienta decisões gerenciais concretas, como reforço de equipe ou automação dessa etapa específica.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Sintetizando os principais insights gerenciais: primeiro, o processo real diverge significativamente de um fluxo ideal, com 169 variantes diferentes — isso por si só já é uma descoberta valiosa. Segundo, os gargalos se concentram na fase pós-oferta, sugerindo que reforçar a equipe de follow-up traria ganho operacional rápido. Terceiro, e talvez o insight mais contraintuitivo, é que o modelo mais simples e restritivo do Alpha Miner se mostrou mais útil para diagnóstico do que o modelo flor, que tecnicamente tem fitness mais alta. Isso reforça a mensagem central: avaliar um modelo de processo exige olhar para múltiplas métricas em conjunto, nunca uma só.</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 fundamental reconhecer as limitações deste trabalho com honestidade científica. A principal é o uso de um log sintético, que, por mais fiel que seja à estrutura documentada do BPI17, não reproduz todo o ruído e as idiossincrasias de um log real. Também substituímos o Heuristic Miner por um grafo filtrado por frequência, uma simplificação razoável mas não equivalente. Como trabalho futuro, o passo mais importante é repetir toda essa análise com o dataset real assim que houver acesso à internet, validando se as conclusões aqui apresentadas se mantêm.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concluir: este trabalho demonstrou, na prática, como process mining revela a realidade de um processo de negócio — neste caso, um processo de concessão de empréstimos com alta variabilidade e gargalos concentrados na fase pós-oferta. A comparação entre algoritmos de descoberta reforçou uma lição central da disciplina: nenhuma métrica isolada basta para avaliar um modelo de processo. E, por fim, destacamos que a adaptação metodológica que adotamos foi feita com total transparência, preservando o rigor científico do trabalho. Obrigado a todos.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Abrimos agora para perguntas. Estamos à disposição para detalhar qualquer ponto: a construção do log sintético, a implementação dos algoritmos, os resultados de conformidade ou as implicações gerenciais dos gargalos identificados.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1143000" y="2148840"/>
            <a:ext cx="9875520" cy="502920"/>
          </a:xfrm>
          <a:prstGeom prst="rect">
            <a:avLst/>
          </a:prstGeom>
          <a:noFill/>
        </p:spPr>
        <p:txBody>
          <a:bodyPr wrap="square" anchor="t" lIns="0" rIns="0" tIns="0" bIns="0">
            <a:spAutoFit/>
          </a:bodyPr>
          <a:lstStyle/>
          <a:p>
            <a:pPr algn="l">
              <a:lnSpc>
                <a:spcPct val="100000"/>
              </a:lnSpc>
              <a:spcAft>
                <a:spcPts val="0"/>
              </a:spcAft>
            </a:pPr>
            <a:r>
              <a:rPr sz="1600" b="1" i="0">
                <a:solidFill>
                  <a:srgbClr val="CADCFC"/>
                </a:solidFill>
                <a:latin typeface="Calibri"/>
              </a:rPr>
              <a:t>TEMA 4 — DATA MINING</a:t>
            </a:r>
          </a:p>
        </p:txBody>
      </p:sp>
      <p:sp>
        <p:nvSpPr>
          <p:cNvPr id="3" name="TextBox 2"/>
          <p:cNvSpPr txBox="1"/>
          <p:nvPr/>
        </p:nvSpPr>
        <p:spPr>
          <a:xfrm>
            <a:off x="1143000" y="2606040"/>
            <a:ext cx="9875520" cy="1371600"/>
          </a:xfrm>
          <a:prstGeom prst="rect">
            <a:avLst/>
          </a:prstGeom>
          <a:noFill/>
        </p:spPr>
        <p:txBody>
          <a:bodyPr wrap="square" anchor="t" lIns="0" rIns="0" tIns="0" bIns="0">
            <a:spAutoFit/>
          </a:bodyPr>
          <a:lstStyle/>
          <a:p>
            <a:pPr algn="l">
              <a:lnSpc>
                <a:spcPct val="100000"/>
              </a:lnSpc>
              <a:spcAft>
                <a:spcPts val="0"/>
              </a:spcAft>
            </a:pPr>
            <a:r>
              <a:rPr sz="5400" b="1" i="0">
                <a:solidFill>
                  <a:srgbClr val="FFFFFF"/>
                </a:solidFill>
                <a:latin typeface="Cambria"/>
              </a:rPr>
              <a:t>Process Mining</a:t>
            </a:r>
          </a:p>
        </p:txBody>
      </p:sp>
      <p:sp>
        <p:nvSpPr>
          <p:cNvPr id="4" name="TextBox 3"/>
          <p:cNvSpPr txBox="1"/>
          <p:nvPr/>
        </p:nvSpPr>
        <p:spPr>
          <a:xfrm>
            <a:off x="1143000" y="3611880"/>
            <a:ext cx="9692640" cy="914400"/>
          </a:xfrm>
          <a:prstGeom prst="rect">
            <a:avLst/>
          </a:prstGeom>
          <a:noFill/>
        </p:spPr>
        <p:txBody>
          <a:bodyPr wrap="square" anchor="t" lIns="0" rIns="0" tIns="0" bIns="0">
            <a:spAutoFit/>
          </a:bodyPr>
          <a:lstStyle/>
          <a:p>
            <a:pPr algn="l">
              <a:lnSpc>
                <a:spcPct val="115000"/>
              </a:lnSpc>
              <a:spcAft>
                <a:spcPts val="0"/>
              </a:spcAft>
            </a:pPr>
            <a:r>
              <a:rPr sz="1800" b="0" i="1">
                <a:solidFill>
                  <a:srgbClr val="CADCFC"/>
                </a:solidFill>
                <a:latin typeface="Calibri"/>
              </a:rPr>
              <a:t>Descoberta de processos e conformance checking aplicados ao processo de concessão de empréstimos (estrutura BPI Challenge 2017)</a:t>
            </a:r>
          </a:p>
        </p:txBody>
      </p:sp>
      <p:sp>
        <p:nvSpPr>
          <p:cNvPr id="5" name="TextBox 4"/>
          <p:cNvSpPr txBox="1"/>
          <p:nvPr/>
        </p:nvSpPr>
        <p:spPr>
          <a:xfrm>
            <a:off x="1143000" y="5440680"/>
            <a:ext cx="9692640" cy="365760"/>
          </a:xfrm>
          <a:prstGeom prst="rect">
            <a:avLst/>
          </a:prstGeom>
          <a:noFill/>
        </p:spPr>
        <p:txBody>
          <a:bodyPr wrap="square" anchor="t" lIns="0" rIns="0" tIns="0" bIns="0">
            <a:spAutoFit/>
          </a:bodyPr>
          <a:lstStyle/>
          <a:p>
            <a:pPr algn="l">
              <a:lnSpc>
                <a:spcPct val="100000"/>
              </a:lnSpc>
              <a:spcAft>
                <a:spcPts val="0"/>
              </a:spcAft>
            </a:pPr>
            <a:r>
              <a:rPr sz="1500" b="0" i="0">
                <a:solidFill>
                  <a:srgbClr val="FFFFFF"/>
                </a:solidFill>
                <a:latin typeface="Calibri"/>
              </a:rPr>
              <a:t>Grupo G5 — Michelangelo · João Marcos · André · Daniel</a:t>
            </a:r>
          </a:p>
        </p:txBody>
      </p:sp>
      <p:sp>
        <p:nvSpPr>
          <p:cNvPr id="6" name="TextBox 5"/>
          <p:cNvSpPr txBox="1"/>
          <p:nvPr/>
        </p:nvSpPr>
        <p:spPr>
          <a:xfrm>
            <a:off x="1143000" y="5806440"/>
            <a:ext cx="9692640" cy="365760"/>
          </a:xfrm>
          <a:prstGeom prst="rect">
            <a:avLst/>
          </a:prstGeom>
          <a:noFill/>
        </p:spPr>
        <p:txBody>
          <a:bodyPr wrap="square" anchor="t" lIns="0" rIns="0" tIns="0" bIns="0">
            <a:spAutoFit/>
          </a:bodyPr>
          <a:lstStyle/>
          <a:p>
            <a:pPr algn="l">
              <a:lnSpc>
                <a:spcPct val="100000"/>
              </a:lnSpc>
              <a:spcAft>
                <a:spcPts val="0"/>
              </a:spcAft>
            </a:pPr>
            <a:r>
              <a:rPr sz="1200" b="0" i="0">
                <a:solidFill>
                  <a:srgbClr val="CADCFC"/>
                </a:solidFill>
                <a:latin typeface="Calibri"/>
              </a:rPr>
              <a:t>UFSSA — Faculdade de Sistemas de Informação · Mineração de Dados · Prof. Adam D. F. dos Santos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Agenda</a:t>
            </a:r>
          </a:p>
        </p:txBody>
      </p:sp>
      <p:sp>
        <p:nvSpPr>
          <p:cNvPr id="3" name="Oval 2"/>
          <p:cNvSpPr/>
          <p:nvPr/>
        </p:nvSpPr>
        <p:spPr>
          <a:xfrm>
            <a:off x="822960" y="155448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1</a:t>
            </a:r>
          </a:p>
        </p:txBody>
      </p:sp>
      <p:sp>
        <p:nvSpPr>
          <p:cNvPr id="4" name="TextBox 3"/>
          <p:cNvSpPr txBox="1"/>
          <p:nvPr/>
        </p:nvSpPr>
        <p:spPr>
          <a:xfrm>
            <a:off x="1508760" y="157276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Contexto: Process Mining e BPM</a:t>
            </a:r>
          </a:p>
        </p:txBody>
      </p:sp>
      <p:sp>
        <p:nvSpPr>
          <p:cNvPr id="5" name="Oval 4"/>
          <p:cNvSpPr/>
          <p:nvPr/>
        </p:nvSpPr>
        <p:spPr>
          <a:xfrm>
            <a:off x="822960" y="260603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2</a:t>
            </a:r>
          </a:p>
        </p:txBody>
      </p:sp>
      <p:sp>
        <p:nvSpPr>
          <p:cNvPr id="6" name="TextBox 5"/>
          <p:cNvSpPr txBox="1"/>
          <p:nvPr/>
        </p:nvSpPr>
        <p:spPr>
          <a:xfrm>
            <a:off x="1508760" y="262432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Conceitos fundamentais (event log, case, atividade, timestamp)</a:t>
            </a:r>
          </a:p>
        </p:txBody>
      </p:sp>
      <p:sp>
        <p:nvSpPr>
          <p:cNvPr id="7" name="Oval 6"/>
          <p:cNvSpPr/>
          <p:nvPr/>
        </p:nvSpPr>
        <p:spPr>
          <a:xfrm>
            <a:off x="822960" y="365760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3</a:t>
            </a:r>
          </a:p>
        </p:txBody>
      </p:sp>
      <p:sp>
        <p:nvSpPr>
          <p:cNvPr id="8" name="TextBox 7"/>
          <p:cNvSpPr txBox="1"/>
          <p:nvPr/>
        </p:nvSpPr>
        <p:spPr>
          <a:xfrm>
            <a:off x="1508760" y="3675887"/>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Process Discovery: Alpha Miner e Inductive Miner</a:t>
            </a:r>
          </a:p>
        </p:txBody>
      </p:sp>
      <p:sp>
        <p:nvSpPr>
          <p:cNvPr id="9" name="Oval 8"/>
          <p:cNvSpPr/>
          <p:nvPr/>
        </p:nvSpPr>
        <p:spPr>
          <a:xfrm>
            <a:off x="822960" y="470915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4</a:t>
            </a:r>
          </a:p>
        </p:txBody>
      </p:sp>
      <p:sp>
        <p:nvSpPr>
          <p:cNvPr id="10" name="TextBox 9"/>
          <p:cNvSpPr txBox="1"/>
          <p:nvPr/>
        </p:nvSpPr>
        <p:spPr>
          <a:xfrm>
            <a:off x="1508760" y="472744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Conformance Checking e Performance Analysis</a:t>
            </a:r>
          </a:p>
        </p:txBody>
      </p:sp>
      <p:sp>
        <p:nvSpPr>
          <p:cNvPr id="11" name="Oval 10"/>
          <p:cNvSpPr/>
          <p:nvPr/>
        </p:nvSpPr>
        <p:spPr>
          <a:xfrm>
            <a:off x="6309360" y="155448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5</a:t>
            </a:r>
          </a:p>
        </p:txBody>
      </p:sp>
      <p:sp>
        <p:nvSpPr>
          <p:cNvPr id="12" name="TextBox 11"/>
          <p:cNvSpPr txBox="1"/>
          <p:nvPr/>
        </p:nvSpPr>
        <p:spPr>
          <a:xfrm>
            <a:off x="6995160" y="157276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Dataset e adaptação metodológica</a:t>
            </a:r>
          </a:p>
        </p:txBody>
      </p:sp>
      <p:sp>
        <p:nvSpPr>
          <p:cNvPr id="13" name="Oval 12"/>
          <p:cNvSpPr/>
          <p:nvPr/>
        </p:nvSpPr>
        <p:spPr>
          <a:xfrm>
            <a:off x="6309360" y="260603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6</a:t>
            </a:r>
          </a:p>
        </p:txBody>
      </p:sp>
      <p:sp>
        <p:nvSpPr>
          <p:cNvPr id="14" name="TextBox 13"/>
          <p:cNvSpPr txBox="1"/>
          <p:nvPr/>
        </p:nvSpPr>
        <p:spPr>
          <a:xfrm>
            <a:off x="6995160" y="262432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Metodologia em 9 etapas</a:t>
            </a:r>
          </a:p>
        </p:txBody>
      </p:sp>
      <p:sp>
        <p:nvSpPr>
          <p:cNvPr id="15" name="Oval 14"/>
          <p:cNvSpPr/>
          <p:nvPr/>
        </p:nvSpPr>
        <p:spPr>
          <a:xfrm>
            <a:off x="6309360" y="3657600"/>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7</a:t>
            </a:r>
          </a:p>
        </p:txBody>
      </p:sp>
      <p:sp>
        <p:nvSpPr>
          <p:cNvPr id="16" name="TextBox 15"/>
          <p:cNvSpPr txBox="1"/>
          <p:nvPr/>
        </p:nvSpPr>
        <p:spPr>
          <a:xfrm>
            <a:off x="6995160" y="3675887"/>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Resultados: EDA, descoberta, conformidade, performance</a:t>
            </a:r>
          </a:p>
        </p:txBody>
      </p:sp>
      <p:sp>
        <p:nvSpPr>
          <p:cNvPr id="17" name="Oval 16"/>
          <p:cNvSpPr/>
          <p:nvPr/>
        </p:nvSpPr>
        <p:spPr>
          <a:xfrm>
            <a:off x="6309360" y="4709159"/>
            <a:ext cx="502920" cy="5029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1">
                <a:solidFill>
                  <a:srgbClr val="FFFFFF"/>
                </a:solidFill>
              </a:rPr>
              <a:t>8</a:t>
            </a:r>
          </a:p>
        </p:txBody>
      </p:sp>
      <p:sp>
        <p:nvSpPr>
          <p:cNvPr id="18" name="TextBox 17"/>
          <p:cNvSpPr txBox="1"/>
          <p:nvPr/>
        </p:nvSpPr>
        <p:spPr>
          <a:xfrm>
            <a:off x="6995160" y="4727448"/>
            <a:ext cx="4754880" cy="822960"/>
          </a:xfrm>
          <a:prstGeom prst="rect">
            <a:avLst/>
          </a:prstGeom>
          <a:noFill/>
        </p:spPr>
        <p:txBody>
          <a:bodyPr wrap="square" anchor="ctr" lIns="0" rIns="0" tIns="0" bIns="0">
            <a:spAutoFit/>
          </a:bodyPr>
          <a:lstStyle/>
          <a:p>
            <a:pPr algn="l">
              <a:lnSpc>
                <a:spcPct val="105000"/>
              </a:lnSpc>
              <a:spcAft>
                <a:spcPts val="0"/>
              </a:spcAft>
            </a:pPr>
            <a:r>
              <a:rPr sz="1600" b="0" i="0">
                <a:solidFill>
                  <a:srgbClr val="1A1D29"/>
                </a:solidFill>
                <a:latin typeface="Calibri"/>
              </a:rPr>
              <a:t>Insights gerenciais, limitações e conclusão</a:t>
            </a:r>
          </a:p>
        </p:txBody>
      </p:sp>
      <p:sp>
        <p:nvSpPr>
          <p:cNvPr id="19" name="TextBox 1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~0,5 min</a:t>
            </a:r>
          </a:p>
        </p:txBody>
      </p:sp>
      <p:sp>
        <p:nvSpPr>
          <p:cNvPr id="20" name="TextBox 1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Contexto: Process Mining e BPM</a:t>
            </a:r>
          </a:p>
        </p:txBody>
      </p:sp>
      <p:sp>
        <p:nvSpPr>
          <p:cNvPr id="3" name="Rounded Rectangle 2"/>
          <p:cNvSpPr/>
          <p:nvPr/>
        </p:nvSpPr>
        <p:spPr>
          <a:xfrm>
            <a:off x="82296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Business Process Management (BPM)</a:t>
            </a:r>
          </a:p>
        </p:txBody>
      </p:sp>
      <p:sp>
        <p:nvSpPr>
          <p:cNvPr id="5" name="TextBox 4"/>
          <p:cNvSpPr txBox="1"/>
          <p:nvPr/>
        </p:nvSpPr>
        <p:spPr>
          <a:xfrm>
            <a:off x="1097280" y="2194560"/>
            <a:ext cx="4572000" cy="3383280"/>
          </a:xfrm>
          <a:prstGeom prst="rect">
            <a:avLst/>
          </a:prstGeom>
          <a:noFill/>
        </p:spPr>
        <p:txBody>
          <a:bodyPr wrap="square" lIns="0" rIns="0" tIns="0" bIns="0">
            <a:spAutoFit/>
          </a:bodyPr>
          <a:lstStyle/>
          <a:p>
            <a:pPr>
              <a:lnSpc>
                <a:spcPct val="112000"/>
              </a:lnSpc>
              <a:spcAft>
                <a:spcPts val="1000"/>
              </a:spcAft>
            </a:pPr>
            <a:r>
              <a:rPr sz="1450">
                <a:solidFill>
                  <a:srgbClr val="1A1D29"/>
                </a:solidFill>
                <a:latin typeface="Calibri"/>
              </a:rPr>
              <a:t>●  Disciplina de modelagem, execução, monitoramento e melhoria contínua de processos organizacionais.</a:t>
            </a:r>
          </a:p>
          <a:p>
            <a:pPr>
              <a:lnSpc>
                <a:spcPct val="112000"/>
              </a:lnSpc>
              <a:spcAft>
                <a:spcPts val="1000"/>
              </a:spcAft>
            </a:pPr>
            <a:r>
              <a:rPr sz="1450">
                <a:solidFill>
                  <a:srgbClr val="1A1D29"/>
                </a:solidFill>
                <a:latin typeface="Calibri"/>
              </a:rPr>
              <a:t>●  Tradicionalmente depende de modelos desenhados manualmente (fluxogramas idealizados).</a:t>
            </a:r>
          </a:p>
          <a:p>
            <a:pPr>
              <a:lnSpc>
                <a:spcPct val="112000"/>
              </a:lnSpc>
              <a:spcAft>
                <a:spcPts val="1000"/>
              </a:spcAft>
            </a:pPr>
            <a:r>
              <a:rPr sz="1450">
                <a:solidFill>
                  <a:srgbClr val="1A1D29"/>
                </a:solidFill>
                <a:latin typeface="Calibri"/>
              </a:rPr>
              <a:t>●  Risco: o modelo "de papel" nem sempre reflete o que realmente acontece na operação.</a:t>
            </a:r>
          </a:p>
        </p:txBody>
      </p:sp>
      <p:sp>
        <p:nvSpPr>
          <p:cNvPr id="6" name="Rounded Rectangle 5"/>
          <p:cNvSpPr/>
          <p:nvPr/>
        </p:nvSpPr>
        <p:spPr>
          <a:xfrm>
            <a:off x="621792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Process Mining</a:t>
            </a:r>
          </a:p>
        </p:txBody>
      </p:sp>
      <p:sp>
        <p:nvSpPr>
          <p:cNvPr id="8" name="TextBox 7"/>
          <p:cNvSpPr txBox="1"/>
          <p:nvPr/>
        </p:nvSpPr>
        <p:spPr>
          <a:xfrm>
            <a:off x="6492240" y="2194560"/>
            <a:ext cx="4572000" cy="3383280"/>
          </a:xfrm>
          <a:prstGeom prst="rect">
            <a:avLst/>
          </a:prstGeom>
          <a:noFill/>
        </p:spPr>
        <p:txBody>
          <a:bodyPr wrap="square" lIns="0" rIns="0" tIns="0" bIns="0">
            <a:spAutoFit/>
          </a:bodyPr>
          <a:lstStyle/>
          <a:p>
            <a:pPr>
              <a:lnSpc>
                <a:spcPct val="112000"/>
              </a:lnSpc>
              <a:spcAft>
                <a:spcPts val="1000"/>
              </a:spcAft>
            </a:pPr>
            <a:r>
              <a:rPr sz="1450">
                <a:solidFill>
                  <a:srgbClr val="1A1D29"/>
                </a:solidFill>
                <a:latin typeface="Calibri"/>
              </a:rPr>
              <a:t>●  Ponte entre Data Mining e BPM: extrai conhecimento de processo a partir de event logs reais.</a:t>
            </a:r>
          </a:p>
          <a:p>
            <a:pPr>
              <a:lnSpc>
                <a:spcPct val="112000"/>
              </a:lnSpc>
              <a:spcAft>
                <a:spcPts val="1000"/>
              </a:spcAft>
            </a:pPr>
            <a:r>
              <a:rPr sz="1450">
                <a:solidFill>
                  <a:srgbClr val="1A1D29"/>
                </a:solidFill>
                <a:latin typeface="Calibri"/>
              </a:rPr>
              <a:t>●  Permite descobrir, verificar conformidade e melhorar processos com base em evidência, não em suposição.</a:t>
            </a:r>
          </a:p>
          <a:p>
            <a:pPr>
              <a:lnSpc>
                <a:spcPct val="112000"/>
              </a:lnSpc>
              <a:spcAft>
                <a:spcPts val="1000"/>
              </a:spcAft>
            </a:pPr>
            <a:r>
              <a:rPr sz="1450">
                <a:solidFill>
                  <a:srgbClr val="1A1D29"/>
                </a:solidFill>
                <a:latin typeface="Calibri"/>
              </a:rPr>
              <a:t>●  Consolidado pelo Process Mining Manifesto (IEEE Task Force, 2011) e por van der Aalst (2016).</a:t>
            </a:r>
          </a:p>
        </p:txBody>
      </p:sp>
      <p:sp>
        <p:nvSpPr>
          <p:cNvPr id="9" name="TextBox 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10" name="TextBox 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Conceitos Fundamentais</a:t>
            </a:r>
          </a:p>
        </p:txBody>
      </p:sp>
      <p:sp>
        <p:nvSpPr>
          <p:cNvPr id="3" name="Rounded Rectangle 2"/>
          <p:cNvSpPr/>
          <p:nvPr/>
        </p:nvSpPr>
        <p:spPr>
          <a:xfrm>
            <a:off x="822960" y="1417320"/>
            <a:ext cx="5120640" cy="210312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43000" y="173736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200" b="1">
                <a:solidFill>
                  <a:srgbClr val="FFFFFF"/>
                </a:solidFill>
              </a:rPr>
              <a:t>1</a:t>
            </a:r>
          </a:p>
        </p:txBody>
      </p:sp>
      <p:sp>
        <p:nvSpPr>
          <p:cNvPr id="5" name="TextBox 4"/>
          <p:cNvSpPr txBox="1"/>
          <p:nvPr/>
        </p:nvSpPr>
        <p:spPr>
          <a:xfrm>
            <a:off x="2011680" y="1709928"/>
            <a:ext cx="3657600" cy="457200"/>
          </a:xfrm>
          <a:prstGeom prst="rect">
            <a:avLst/>
          </a:prstGeom>
          <a:noFill/>
        </p:spPr>
        <p:txBody>
          <a:bodyPr wrap="square" anchor="t" lIns="0" rIns="0" tIns="0" bIns="0">
            <a:spAutoFit/>
          </a:bodyPr>
          <a:lstStyle/>
          <a:p>
            <a:pPr algn="l">
              <a:lnSpc>
                <a:spcPct val="100000"/>
              </a:lnSpc>
              <a:spcAft>
                <a:spcPts val="0"/>
              </a:spcAft>
            </a:pPr>
            <a:r>
              <a:rPr sz="1800" b="1" i="0">
                <a:solidFill>
                  <a:srgbClr val="1E2761"/>
                </a:solidFill>
                <a:latin typeface="Calibri"/>
              </a:rPr>
              <a:t>Event Log</a:t>
            </a:r>
          </a:p>
        </p:txBody>
      </p:sp>
      <p:sp>
        <p:nvSpPr>
          <p:cNvPr id="6" name="TextBox 5"/>
          <p:cNvSpPr txBox="1"/>
          <p:nvPr/>
        </p:nvSpPr>
        <p:spPr>
          <a:xfrm>
            <a:off x="2011680" y="2286000"/>
            <a:ext cx="3749039" cy="1097280"/>
          </a:xfrm>
          <a:prstGeom prst="rect">
            <a:avLst/>
          </a:prstGeom>
          <a:noFill/>
        </p:spPr>
        <p:txBody>
          <a:bodyPr wrap="square" anchor="t" lIns="0" rIns="0" tIns="0" bIns="0">
            <a:spAutoFit/>
          </a:bodyPr>
          <a:lstStyle/>
          <a:p>
            <a:pPr algn="l">
              <a:lnSpc>
                <a:spcPct val="110000"/>
              </a:lnSpc>
              <a:spcAft>
                <a:spcPts val="0"/>
              </a:spcAft>
            </a:pPr>
            <a:r>
              <a:rPr sz="1400" b="0" i="0">
                <a:solidFill>
                  <a:srgbClr val="1A1D29"/>
                </a:solidFill>
                <a:latin typeface="Calibri"/>
              </a:rPr>
              <a:t>registro estruturado de eventos de execução do processo.</a:t>
            </a:r>
          </a:p>
        </p:txBody>
      </p:sp>
      <p:sp>
        <p:nvSpPr>
          <p:cNvPr id="7" name="Rounded Rectangle 6"/>
          <p:cNvSpPr/>
          <p:nvPr/>
        </p:nvSpPr>
        <p:spPr>
          <a:xfrm>
            <a:off x="6309360" y="1417320"/>
            <a:ext cx="5120640" cy="210312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629400" y="173736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200" b="1">
                <a:solidFill>
                  <a:srgbClr val="FFFFFF"/>
                </a:solidFill>
              </a:rPr>
              <a:t>2</a:t>
            </a:r>
          </a:p>
        </p:txBody>
      </p:sp>
      <p:sp>
        <p:nvSpPr>
          <p:cNvPr id="9" name="TextBox 8"/>
          <p:cNvSpPr txBox="1"/>
          <p:nvPr/>
        </p:nvSpPr>
        <p:spPr>
          <a:xfrm>
            <a:off x="7498080" y="1709928"/>
            <a:ext cx="3657600" cy="457200"/>
          </a:xfrm>
          <a:prstGeom prst="rect">
            <a:avLst/>
          </a:prstGeom>
          <a:noFill/>
        </p:spPr>
        <p:txBody>
          <a:bodyPr wrap="square" anchor="t" lIns="0" rIns="0" tIns="0" bIns="0">
            <a:spAutoFit/>
          </a:bodyPr>
          <a:lstStyle/>
          <a:p>
            <a:pPr algn="l">
              <a:lnSpc>
                <a:spcPct val="100000"/>
              </a:lnSpc>
              <a:spcAft>
                <a:spcPts val="0"/>
              </a:spcAft>
            </a:pPr>
            <a:r>
              <a:rPr sz="1800" b="1" i="0">
                <a:solidFill>
                  <a:srgbClr val="1E2761"/>
                </a:solidFill>
                <a:latin typeface="Calibri"/>
              </a:rPr>
              <a:t>Case ID</a:t>
            </a:r>
          </a:p>
        </p:txBody>
      </p:sp>
      <p:sp>
        <p:nvSpPr>
          <p:cNvPr id="10" name="TextBox 9"/>
          <p:cNvSpPr txBox="1"/>
          <p:nvPr/>
        </p:nvSpPr>
        <p:spPr>
          <a:xfrm>
            <a:off x="7498080" y="2286000"/>
            <a:ext cx="3749039" cy="1097280"/>
          </a:xfrm>
          <a:prstGeom prst="rect">
            <a:avLst/>
          </a:prstGeom>
          <a:noFill/>
        </p:spPr>
        <p:txBody>
          <a:bodyPr wrap="square" anchor="t" lIns="0" rIns="0" tIns="0" bIns="0">
            <a:spAutoFit/>
          </a:bodyPr>
          <a:lstStyle/>
          <a:p>
            <a:pPr algn="l">
              <a:lnSpc>
                <a:spcPct val="110000"/>
              </a:lnSpc>
              <a:spcAft>
                <a:spcPts val="0"/>
              </a:spcAft>
            </a:pPr>
            <a:r>
              <a:rPr sz="1400" b="0" i="0">
                <a:solidFill>
                  <a:srgbClr val="1A1D29"/>
                </a:solidFill>
                <a:latin typeface="Calibri"/>
              </a:rPr>
              <a:t>identificador único de cada instância (caso) do processo.</a:t>
            </a:r>
          </a:p>
        </p:txBody>
      </p:sp>
      <p:sp>
        <p:nvSpPr>
          <p:cNvPr id="11" name="Rounded Rectangle 10"/>
          <p:cNvSpPr/>
          <p:nvPr/>
        </p:nvSpPr>
        <p:spPr>
          <a:xfrm>
            <a:off x="822960" y="3749039"/>
            <a:ext cx="5120640" cy="210312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43000" y="4069079"/>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200" b="1">
                <a:solidFill>
                  <a:srgbClr val="FFFFFF"/>
                </a:solidFill>
              </a:rPr>
              <a:t>3</a:t>
            </a:r>
          </a:p>
        </p:txBody>
      </p:sp>
      <p:sp>
        <p:nvSpPr>
          <p:cNvPr id="13" name="TextBox 12"/>
          <p:cNvSpPr txBox="1"/>
          <p:nvPr/>
        </p:nvSpPr>
        <p:spPr>
          <a:xfrm>
            <a:off x="2011680" y="4041647"/>
            <a:ext cx="3657600" cy="457200"/>
          </a:xfrm>
          <a:prstGeom prst="rect">
            <a:avLst/>
          </a:prstGeom>
          <a:noFill/>
        </p:spPr>
        <p:txBody>
          <a:bodyPr wrap="square" anchor="t" lIns="0" rIns="0" tIns="0" bIns="0">
            <a:spAutoFit/>
          </a:bodyPr>
          <a:lstStyle/>
          <a:p>
            <a:pPr algn="l">
              <a:lnSpc>
                <a:spcPct val="100000"/>
              </a:lnSpc>
              <a:spcAft>
                <a:spcPts val="0"/>
              </a:spcAft>
            </a:pPr>
            <a:r>
              <a:rPr sz="1800" b="1" i="0">
                <a:solidFill>
                  <a:srgbClr val="1E2761"/>
                </a:solidFill>
                <a:latin typeface="Calibri"/>
              </a:rPr>
              <a:t>Activity</a:t>
            </a:r>
          </a:p>
        </p:txBody>
      </p:sp>
      <p:sp>
        <p:nvSpPr>
          <p:cNvPr id="14" name="TextBox 13"/>
          <p:cNvSpPr txBox="1"/>
          <p:nvPr/>
        </p:nvSpPr>
        <p:spPr>
          <a:xfrm>
            <a:off x="2011680" y="4617719"/>
            <a:ext cx="3749039" cy="1097280"/>
          </a:xfrm>
          <a:prstGeom prst="rect">
            <a:avLst/>
          </a:prstGeom>
          <a:noFill/>
        </p:spPr>
        <p:txBody>
          <a:bodyPr wrap="square" anchor="t" lIns="0" rIns="0" tIns="0" bIns="0">
            <a:spAutoFit/>
          </a:bodyPr>
          <a:lstStyle/>
          <a:p>
            <a:pPr algn="l">
              <a:lnSpc>
                <a:spcPct val="110000"/>
              </a:lnSpc>
              <a:spcAft>
                <a:spcPts val="0"/>
              </a:spcAft>
            </a:pPr>
            <a:r>
              <a:rPr sz="1400" b="0" i="0">
                <a:solidFill>
                  <a:srgbClr val="1A1D29"/>
                </a:solidFill>
                <a:latin typeface="Calibri"/>
              </a:rPr>
              <a:t>passo/etapa executado dentro de um caso.</a:t>
            </a:r>
          </a:p>
        </p:txBody>
      </p:sp>
      <p:sp>
        <p:nvSpPr>
          <p:cNvPr id="15" name="Rounded Rectangle 14"/>
          <p:cNvSpPr/>
          <p:nvPr/>
        </p:nvSpPr>
        <p:spPr>
          <a:xfrm>
            <a:off x="6309360" y="3749039"/>
            <a:ext cx="5120640" cy="210312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29400" y="4069079"/>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200" b="1">
                <a:solidFill>
                  <a:srgbClr val="FFFFFF"/>
                </a:solidFill>
              </a:rPr>
              <a:t>4</a:t>
            </a:r>
          </a:p>
        </p:txBody>
      </p:sp>
      <p:sp>
        <p:nvSpPr>
          <p:cNvPr id="17" name="TextBox 16"/>
          <p:cNvSpPr txBox="1"/>
          <p:nvPr/>
        </p:nvSpPr>
        <p:spPr>
          <a:xfrm>
            <a:off x="7498080" y="4041647"/>
            <a:ext cx="3657600" cy="457200"/>
          </a:xfrm>
          <a:prstGeom prst="rect">
            <a:avLst/>
          </a:prstGeom>
          <a:noFill/>
        </p:spPr>
        <p:txBody>
          <a:bodyPr wrap="square" anchor="t" lIns="0" rIns="0" tIns="0" bIns="0">
            <a:spAutoFit/>
          </a:bodyPr>
          <a:lstStyle/>
          <a:p>
            <a:pPr algn="l">
              <a:lnSpc>
                <a:spcPct val="100000"/>
              </a:lnSpc>
              <a:spcAft>
                <a:spcPts val="0"/>
              </a:spcAft>
            </a:pPr>
            <a:r>
              <a:rPr sz="1800" b="1" i="0">
                <a:solidFill>
                  <a:srgbClr val="1E2761"/>
                </a:solidFill>
                <a:latin typeface="Calibri"/>
              </a:rPr>
              <a:t>Timestamp</a:t>
            </a:r>
          </a:p>
        </p:txBody>
      </p:sp>
      <p:sp>
        <p:nvSpPr>
          <p:cNvPr id="18" name="TextBox 17"/>
          <p:cNvSpPr txBox="1"/>
          <p:nvPr/>
        </p:nvSpPr>
        <p:spPr>
          <a:xfrm>
            <a:off x="7498080" y="4617719"/>
            <a:ext cx="3749039" cy="1097280"/>
          </a:xfrm>
          <a:prstGeom prst="rect">
            <a:avLst/>
          </a:prstGeom>
          <a:noFill/>
        </p:spPr>
        <p:txBody>
          <a:bodyPr wrap="square" anchor="t" lIns="0" rIns="0" tIns="0" bIns="0">
            <a:spAutoFit/>
          </a:bodyPr>
          <a:lstStyle/>
          <a:p>
            <a:pPr algn="l">
              <a:lnSpc>
                <a:spcPct val="110000"/>
              </a:lnSpc>
              <a:spcAft>
                <a:spcPts val="0"/>
              </a:spcAft>
            </a:pPr>
            <a:r>
              <a:rPr sz="1400" b="0" i="0">
                <a:solidFill>
                  <a:srgbClr val="1A1D29"/>
                </a:solidFill>
                <a:latin typeface="Calibri"/>
              </a:rPr>
              <a:t>marca temporal de quando a atividade ocorreu.</a:t>
            </a:r>
          </a:p>
        </p:txBody>
      </p:sp>
      <p:sp>
        <p:nvSpPr>
          <p:cNvPr id="19" name="TextBox 1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20" name="TextBox 1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Process Discovery: Alpha Miner e Inductive Miner</a:t>
            </a:r>
          </a:p>
        </p:txBody>
      </p:sp>
      <p:sp>
        <p:nvSpPr>
          <p:cNvPr id="3" name="Rounded Rectangle 2"/>
          <p:cNvSpPr/>
          <p:nvPr/>
        </p:nvSpPr>
        <p:spPr>
          <a:xfrm>
            <a:off x="82296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Alpha Miner</a:t>
            </a:r>
          </a:p>
        </p:txBody>
      </p:sp>
      <p:sp>
        <p:nvSpPr>
          <p:cNvPr id="5" name="TextBox 4"/>
          <p:cNvSpPr txBox="1"/>
          <p:nvPr/>
        </p:nvSpPr>
        <p:spPr>
          <a:xfrm>
            <a:off x="1097280" y="2194560"/>
            <a:ext cx="4572000" cy="3383280"/>
          </a:xfrm>
          <a:prstGeom prst="rect">
            <a:avLst/>
          </a:prstGeom>
          <a:noFill/>
        </p:spPr>
        <p:txBody>
          <a:bodyPr wrap="square" lIns="0" rIns="0" tIns="0" bIns="0">
            <a:spAutoFit/>
          </a:bodyPr>
          <a:lstStyle/>
          <a:p>
            <a:pPr>
              <a:lnSpc>
                <a:spcPct val="112000"/>
              </a:lnSpc>
              <a:spcAft>
                <a:spcPts val="1000"/>
              </a:spcAft>
            </a:pPr>
            <a:r>
              <a:rPr sz="1400">
                <a:solidFill>
                  <a:srgbClr val="1A1D29"/>
                </a:solidFill>
                <a:latin typeface="Calibri"/>
              </a:rPr>
              <a:t>●  Primeiro algoritmo formal de descoberta (van der Aalst, Weijters &amp; Maruster, 2004).</a:t>
            </a:r>
          </a:p>
          <a:p>
            <a:pPr>
              <a:lnSpc>
                <a:spcPct val="112000"/>
              </a:lnSpc>
              <a:spcAft>
                <a:spcPts val="1000"/>
              </a:spcAft>
            </a:pPr>
            <a:r>
              <a:rPr sz="1400">
                <a:solidFill>
                  <a:srgbClr val="1A1D29"/>
                </a:solidFill>
                <a:latin typeface="Calibri"/>
              </a:rPr>
              <a:t>●  Constrói uma rede de Petri a partir de relações de footprint: causalidade (&gt;), exclusividade (#) e paralelismo (||).</a:t>
            </a:r>
          </a:p>
          <a:p>
            <a:pPr>
              <a:lnSpc>
                <a:spcPct val="112000"/>
              </a:lnSpc>
              <a:spcAft>
                <a:spcPts val="1000"/>
              </a:spcAft>
            </a:pPr>
            <a:r>
              <a:rPr sz="1400">
                <a:solidFill>
                  <a:srgbClr val="1A1D29"/>
                </a:solidFill>
                <a:latin typeface="Calibri"/>
              </a:rPr>
              <a:t>●  Limitação clássica: sensível a ruído e a laços de curta duração (short loops).</a:t>
            </a:r>
          </a:p>
        </p:txBody>
      </p:sp>
      <p:sp>
        <p:nvSpPr>
          <p:cNvPr id="6" name="Rounded Rectangle 5"/>
          <p:cNvSpPr/>
          <p:nvPr/>
        </p:nvSpPr>
        <p:spPr>
          <a:xfrm>
            <a:off x="621792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Inductive Miner</a:t>
            </a:r>
          </a:p>
        </p:txBody>
      </p:sp>
      <p:sp>
        <p:nvSpPr>
          <p:cNvPr id="8" name="TextBox 7"/>
          <p:cNvSpPr txBox="1"/>
          <p:nvPr/>
        </p:nvSpPr>
        <p:spPr>
          <a:xfrm>
            <a:off x="6492240" y="2194560"/>
            <a:ext cx="4572000" cy="3383280"/>
          </a:xfrm>
          <a:prstGeom prst="rect">
            <a:avLst/>
          </a:prstGeom>
          <a:noFill/>
        </p:spPr>
        <p:txBody>
          <a:bodyPr wrap="square" lIns="0" rIns="0" tIns="0" bIns="0">
            <a:spAutoFit/>
          </a:bodyPr>
          <a:lstStyle/>
          <a:p>
            <a:pPr>
              <a:lnSpc>
                <a:spcPct val="112000"/>
              </a:lnSpc>
              <a:spcAft>
                <a:spcPts val="1000"/>
              </a:spcAft>
            </a:pPr>
            <a:r>
              <a:rPr sz="1400">
                <a:solidFill>
                  <a:srgbClr val="1A1D29"/>
                </a:solidFill>
                <a:latin typeface="Calibri"/>
              </a:rPr>
              <a:t>●  Algoritmo mais recente (Leemans, Fahland &amp; van der Aalst, 2013), baseado em process trees.</a:t>
            </a:r>
          </a:p>
          <a:p>
            <a:pPr>
              <a:lnSpc>
                <a:spcPct val="112000"/>
              </a:lnSpc>
              <a:spcAft>
                <a:spcPts val="1000"/>
              </a:spcAft>
            </a:pPr>
            <a:r>
              <a:rPr sz="1400">
                <a:solidFill>
                  <a:srgbClr val="1A1D29"/>
                </a:solidFill>
                <a:latin typeface="Calibri"/>
              </a:rPr>
              <a:t>●  Aplica cortes recursivos: sequência, escolha (XOR), paralelo e loop, garantindo solidez (soundness) do modelo.</a:t>
            </a:r>
          </a:p>
          <a:p>
            <a:pPr>
              <a:lnSpc>
                <a:spcPct val="112000"/>
              </a:lnSpc>
              <a:spcAft>
                <a:spcPts val="1000"/>
              </a:spcAft>
            </a:pPr>
            <a:r>
              <a:rPr sz="1400">
                <a:solidFill>
                  <a:srgbClr val="1A1D29"/>
                </a:solidFill>
                <a:latin typeface="Calibri"/>
              </a:rPr>
              <a:t>●  Quando não há corte estrutural limpo, recorre ao modelo flor (fallback) — alta fitness, baixa precisão.</a:t>
            </a:r>
          </a:p>
        </p:txBody>
      </p:sp>
      <p:sp>
        <p:nvSpPr>
          <p:cNvPr id="9" name="TextBox 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10" name="TextBox 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Conformance Checking e Performance Analysis</a:t>
            </a:r>
          </a:p>
        </p:txBody>
      </p:sp>
      <p:sp>
        <p:nvSpPr>
          <p:cNvPr id="3" name="Rounded Rectangle 2"/>
          <p:cNvSpPr/>
          <p:nvPr/>
        </p:nvSpPr>
        <p:spPr>
          <a:xfrm>
            <a:off x="82296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Conformance Checking</a:t>
            </a:r>
          </a:p>
        </p:txBody>
      </p:sp>
      <p:sp>
        <p:nvSpPr>
          <p:cNvPr id="5" name="TextBox 4"/>
          <p:cNvSpPr txBox="1"/>
          <p:nvPr/>
        </p:nvSpPr>
        <p:spPr>
          <a:xfrm>
            <a:off x="1097280" y="2194560"/>
            <a:ext cx="4572000" cy="3383280"/>
          </a:xfrm>
          <a:prstGeom prst="rect">
            <a:avLst/>
          </a:prstGeom>
          <a:noFill/>
        </p:spPr>
        <p:txBody>
          <a:bodyPr wrap="square" lIns="0" rIns="0" tIns="0" bIns="0">
            <a:spAutoFit/>
          </a:bodyPr>
          <a:lstStyle/>
          <a:p>
            <a:pPr>
              <a:lnSpc>
                <a:spcPct val="112000"/>
              </a:lnSpc>
              <a:spcAft>
                <a:spcPts val="1000"/>
              </a:spcAft>
            </a:pPr>
            <a:r>
              <a:rPr b="1" sz="1400">
                <a:solidFill>
                  <a:srgbClr val="1E2761"/>
                </a:solidFill>
                <a:latin typeface="Calibri"/>
              </a:rPr>
              <a:t>● Fitness</a:t>
            </a:r>
            <a:r>
              <a:rPr sz="1400">
                <a:solidFill>
                  <a:srgbClr val="1A1D29"/>
                </a:solidFill>
                <a:latin typeface="Calibri"/>
              </a:rPr>
              <a:t> — quanto do log o modelo consegue reproduzir.</a:t>
            </a:r>
          </a:p>
          <a:p>
            <a:pPr>
              <a:lnSpc>
                <a:spcPct val="112000"/>
              </a:lnSpc>
              <a:spcAft>
                <a:spcPts val="1000"/>
              </a:spcAft>
            </a:pPr>
            <a:r>
              <a:rPr b="1" sz="1400">
                <a:solidFill>
                  <a:srgbClr val="1E2761"/>
                </a:solidFill>
                <a:latin typeface="Calibri"/>
              </a:rPr>
              <a:t>● Precision</a:t>
            </a:r>
            <a:r>
              <a:rPr sz="1400">
                <a:solidFill>
                  <a:srgbClr val="1A1D29"/>
                </a:solidFill>
                <a:latin typeface="Calibri"/>
              </a:rPr>
              <a:t> — quanto do modelo é realmente usado pelo log.</a:t>
            </a:r>
          </a:p>
          <a:p>
            <a:pPr>
              <a:lnSpc>
                <a:spcPct val="112000"/>
              </a:lnSpc>
              <a:spcAft>
                <a:spcPts val="1000"/>
              </a:spcAft>
            </a:pPr>
            <a:r>
              <a:rPr b="1" sz="1400">
                <a:solidFill>
                  <a:srgbClr val="1E2761"/>
                </a:solidFill>
                <a:latin typeface="Calibri"/>
              </a:rPr>
              <a:t>● Generalization</a:t>
            </a:r>
            <a:r>
              <a:rPr sz="1400">
                <a:solidFill>
                  <a:srgbClr val="1A1D29"/>
                </a:solidFill>
                <a:latin typeface="Calibri"/>
              </a:rPr>
              <a:t> — robustez do modelo a casos não vistos.</a:t>
            </a:r>
          </a:p>
          <a:p>
            <a:pPr>
              <a:lnSpc>
                <a:spcPct val="112000"/>
              </a:lnSpc>
              <a:spcAft>
                <a:spcPts val="1000"/>
              </a:spcAft>
            </a:pPr>
            <a:r>
              <a:rPr b="1" sz="1400">
                <a:solidFill>
                  <a:srgbClr val="1E2761"/>
                </a:solidFill>
                <a:latin typeface="Calibri"/>
              </a:rPr>
              <a:t>● Simplicity</a:t>
            </a:r>
            <a:r>
              <a:rPr sz="1400">
                <a:solidFill>
                  <a:srgbClr val="1A1D29"/>
                </a:solidFill>
                <a:latin typeface="Calibri"/>
              </a:rPr>
              <a:t> — quão compacto/interpretável é o modelo.</a:t>
            </a:r>
          </a:p>
        </p:txBody>
      </p:sp>
      <p:sp>
        <p:nvSpPr>
          <p:cNvPr id="6" name="Rounded Rectangle 5"/>
          <p:cNvSpPr/>
          <p:nvPr/>
        </p:nvSpPr>
        <p:spPr>
          <a:xfrm>
            <a:off x="621792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Performance Analysis</a:t>
            </a:r>
          </a:p>
        </p:txBody>
      </p:sp>
      <p:sp>
        <p:nvSpPr>
          <p:cNvPr id="8" name="TextBox 7"/>
          <p:cNvSpPr txBox="1"/>
          <p:nvPr/>
        </p:nvSpPr>
        <p:spPr>
          <a:xfrm>
            <a:off x="6492240" y="2194560"/>
            <a:ext cx="4572000" cy="3383280"/>
          </a:xfrm>
          <a:prstGeom prst="rect">
            <a:avLst/>
          </a:prstGeom>
          <a:noFill/>
        </p:spPr>
        <p:txBody>
          <a:bodyPr wrap="square" lIns="0" rIns="0" tIns="0" bIns="0">
            <a:spAutoFit/>
          </a:bodyPr>
          <a:lstStyle/>
          <a:p>
            <a:pPr>
              <a:lnSpc>
                <a:spcPct val="112000"/>
              </a:lnSpc>
              <a:spcAft>
                <a:spcPts val="1000"/>
              </a:spcAft>
            </a:pPr>
            <a:r>
              <a:rPr sz="1400">
                <a:solidFill>
                  <a:srgbClr val="1A1D29"/>
                </a:solidFill>
                <a:latin typeface="Calibri"/>
              </a:rPr>
              <a:t>●  Mede tempos entre atividades consecutivas (espera, fila, processamento).</a:t>
            </a:r>
          </a:p>
          <a:p>
            <a:pPr>
              <a:lnSpc>
                <a:spcPct val="112000"/>
              </a:lnSpc>
              <a:spcAft>
                <a:spcPts val="1000"/>
              </a:spcAft>
            </a:pPr>
            <a:r>
              <a:rPr sz="1400">
                <a:solidFill>
                  <a:srgbClr val="1A1D29"/>
                </a:solidFill>
                <a:latin typeface="Calibri"/>
              </a:rPr>
              <a:t>●  Bottlenecks: transições com maior tempo médio/mediano/p90 de espera.</a:t>
            </a:r>
          </a:p>
          <a:p>
            <a:pPr>
              <a:lnSpc>
                <a:spcPct val="112000"/>
              </a:lnSpc>
              <a:spcAft>
                <a:spcPts val="1000"/>
              </a:spcAft>
            </a:pPr>
            <a:r>
              <a:rPr sz="1400">
                <a:solidFill>
                  <a:srgbClr val="1A1D29"/>
                </a:solidFill>
                <a:latin typeface="Calibri"/>
              </a:rPr>
              <a:t>●  Direciona ação gerencial: onde investir em automação ou reforço de equipe.</a:t>
            </a:r>
          </a:p>
        </p:txBody>
      </p:sp>
      <p:sp>
        <p:nvSpPr>
          <p:cNvPr id="9" name="TextBox 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10" name="TextBox 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FFFFFF"/>
                </a:solidFill>
                <a:latin typeface="Cambria"/>
              </a:rPr>
              <a:t>Dataset: BPI Challenge 2017 e a Adaptação Metodológica</a:t>
            </a:r>
          </a:p>
        </p:txBody>
      </p:sp>
      <p:sp>
        <p:nvSpPr>
          <p:cNvPr id="3" name="TextBox 2"/>
          <p:cNvSpPr txBox="1"/>
          <p:nvPr/>
        </p:nvSpPr>
        <p:spPr>
          <a:xfrm>
            <a:off x="822960" y="1417320"/>
            <a:ext cx="10515600" cy="548640"/>
          </a:xfrm>
          <a:prstGeom prst="rect">
            <a:avLst/>
          </a:prstGeom>
          <a:noFill/>
        </p:spPr>
        <p:txBody>
          <a:bodyPr wrap="square" anchor="t" lIns="0" rIns="0" tIns="0" bIns="0">
            <a:spAutoFit/>
          </a:bodyPr>
          <a:lstStyle/>
          <a:p>
            <a:pPr algn="l">
              <a:lnSpc>
                <a:spcPct val="100000"/>
              </a:lnSpc>
              <a:spcAft>
                <a:spcPts val="0"/>
              </a:spcAft>
            </a:pPr>
            <a:r>
              <a:rPr sz="1500" b="0" i="1">
                <a:solidFill>
                  <a:srgbClr val="CADCFC"/>
                </a:solidFill>
                <a:latin typeface="Calibri"/>
              </a:rPr>
              <a:t>O ambiente de execução não possui acesso à internet (sem download do BPI17 nem de PM4Py).</a:t>
            </a:r>
          </a:p>
        </p:txBody>
      </p:sp>
      <p:sp>
        <p:nvSpPr>
          <p:cNvPr id="4" name="Rounded Rectangle 3"/>
          <p:cNvSpPr/>
          <p:nvPr/>
        </p:nvSpPr>
        <p:spPr>
          <a:xfrm>
            <a:off x="822960" y="2103120"/>
            <a:ext cx="10515600" cy="3749039"/>
          </a:xfrm>
          <a:prstGeom prst="roundRect">
            <a:avLst/>
          </a:prstGeom>
          <a:solidFill>
            <a:srgbClr val="1217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377440"/>
            <a:ext cx="9875520" cy="3383280"/>
          </a:xfrm>
          <a:prstGeom prst="rect">
            <a:avLst/>
          </a:prstGeom>
          <a:noFill/>
        </p:spPr>
        <p:txBody>
          <a:bodyPr wrap="square" lIns="0" rIns="0" tIns="0" bIns="0">
            <a:spAutoFit/>
          </a:bodyPr>
          <a:lstStyle/>
          <a:p>
            <a:pPr>
              <a:lnSpc>
                <a:spcPct val="112000"/>
              </a:lnSpc>
              <a:spcAft>
                <a:spcPts val="1000"/>
              </a:spcAft>
            </a:pPr>
            <a:r>
              <a:rPr b="1" sz="1500">
                <a:solidFill>
                  <a:srgbClr val="CADCFC"/>
                </a:solidFill>
                <a:latin typeface="Calibri"/>
              </a:rPr>
              <a:t>● Solução adotada</a:t>
            </a:r>
            <a:r>
              <a:rPr sz="1500">
                <a:solidFill>
                  <a:srgbClr val="FFFFFF"/>
                </a:solidFill>
                <a:latin typeface="Calibri"/>
              </a:rPr>
              <a:t> geração de um log sintético fiel à estrutura documentada do BPI Challenge 2017 (mesmas 23 atividades, prefixos A_/O_/W_, mesma lógica de processo de concessão de empréstimos).</a:t>
            </a:r>
          </a:p>
          <a:p>
            <a:pPr>
              <a:lnSpc>
                <a:spcPct val="112000"/>
              </a:lnSpc>
              <a:spcAft>
                <a:spcPts val="1000"/>
              </a:spcAft>
            </a:pPr>
            <a:r>
              <a:rPr b="1" sz="1500">
                <a:solidFill>
                  <a:srgbClr val="CADCFC"/>
                </a:solidFill>
                <a:latin typeface="Calibri"/>
              </a:rPr>
              <a:t>● Algoritmos próprios</a:t>
            </a:r>
            <a:r>
              <a:rPr sz="1500">
                <a:solidFill>
                  <a:srgbClr val="FFFFFF"/>
                </a:solidFill>
                <a:latin typeface="Calibri"/>
              </a:rPr>
              <a:t> Alpha Miner, Inductive Miner, conformance checking e performance analysis foram implementados em Python puro, sem bibliotecas externas como PM4Py.</a:t>
            </a:r>
          </a:p>
          <a:p>
            <a:pPr>
              <a:lnSpc>
                <a:spcPct val="112000"/>
              </a:lnSpc>
              <a:spcAft>
                <a:spcPts val="1000"/>
              </a:spcAft>
            </a:pPr>
            <a:r>
              <a:rPr b="1" sz="1500">
                <a:solidFill>
                  <a:srgbClr val="CADCFC"/>
                </a:solidFill>
                <a:latin typeface="Calibri"/>
              </a:rPr>
              <a:t>● Transparência</a:t>
            </a:r>
            <a:r>
              <a:rPr sz="1500">
                <a:solidFill>
                  <a:srgbClr val="FFFFFF"/>
                </a:solidFill>
                <a:latin typeface="Calibri"/>
              </a:rPr>
              <a:t> essa adaptação é documentada em todos os entregáveis (notebook, relatório e aqui na apresentação), preservando o rigor metodológico exigido.</a:t>
            </a:r>
          </a:p>
          <a:p>
            <a:pPr>
              <a:lnSpc>
                <a:spcPct val="112000"/>
              </a:lnSpc>
              <a:spcAft>
                <a:spcPts val="1000"/>
              </a:spcAft>
            </a:pPr>
            <a:r>
              <a:rPr b="1" sz="1500">
                <a:solidFill>
                  <a:srgbClr val="CADCFC"/>
                </a:solidFill>
                <a:latin typeface="Calibri"/>
              </a:rPr>
              <a:t>● Escala</a:t>
            </a:r>
            <a:r>
              <a:rPr sz="1500">
                <a:solidFill>
                  <a:srgbClr val="FFFFFF"/>
                </a:solidFill>
                <a:latin typeface="Calibri"/>
              </a:rPr>
              <a:t> 3.000 casos, 54.597 eventos, 23 atividades — compatível em ordem de grandeza com o dataset real.</a:t>
            </a:r>
          </a:p>
        </p:txBody>
      </p:sp>
      <p:sp>
        <p:nvSpPr>
          <p:cNvPr id="6" name="TextBox 5"/>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7" name="TextBox 6"/>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Metodologia em 9 Etapas</a:t>
            </a:r>
          </a:p>
        </p:txBody>
      </p:sp>
      <p:sp>
        <p:nvSpPr>
          <p:cNvPr id="3" name="Rounded Rectangle 2"/>
          <p:cNvSpPr/>
          <p:nvPr/>
        </p:nvSpPr>
        <p:spPr>
          <a:xfrm>
            <a:off x="822960" y="14630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97280" y="17830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1</a:t>
            </a:r>
          </a:p>
        </p:txBody>
      </p:sp>
      <p:sp>
        <p:nvSpPr>
          <p:cNvPr id="5" name="TextBox 4"/>
          <p:cNvSpPr txBox="1"/>
          <p:nvPr/>
        </p:nvSpPr>
        <p:spPr>
          <a:xfrm>
            <a:off x="2011680" y="17830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Geração do log sintético</a:t>
            </a:r>
          </a:p>
        </p:txBody>
      </p:sp>
      <p:sp>
        <p:nvSpPr>
          <p:cNvPr id="6" name="Rounded Rectangle 5"/>
          <p:cNvSpPr/>
          <p:nvPr/>
        </p:nvSpPr>
        <p:spPr>
          <a:xfrm>
            <a:off x="4434840" y="14630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709160" y="17830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2</a:t>
            </a:r>
          </a:p>
        </p:txBody>
      </p:sp>
      <p:sp>
        <p:nvSpPr>
          <p:cNvPr id="8" name="TextBox 7"/>
          <p:cNvSpPr txBox="1"/>
          <p:nvPr/>
        </p:nvSpPr>
        <p:spPr>
          <a:xfrm>
            <a:off x="5623560" y="17830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Carregamento e validação</a:t>
            </a:r>
          </a:p>
        </p:txBody>
      </p:sp>
      <p:sp>
        <p:nvSpPr>
          <p:cNvPr id="9" name="Rounded Rectangle 8"/>
          <p:cNvSpPr/>
          <p:nvPr/>
        </p:nvSpPr>
        <p:spPr>
          <a:xfrm>
            <a:off x="8046720" y="14630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21040" y="17830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3</a:t>
            </a:r>
          </a:p>
        </p:txBody>
      </p:sp>
      <p:sp>
        <p:nvSpPr>
          <p:cNvPr id="11" name="TextBox 10"/>
          <p:cNvSpPr txBox="1"/>
          <p:nvPr/>
        </p:nvSpPr>
        <p:spPr>
          <a:xfrm>
            <a:off x="9235440" y="17830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Análise exploratória (EDA)</a:t>
            </a:r>
          </a:p>
        </p:txBody>
      </p:sp>
      <p:sp>
        <p:nvSpPr>
          <p:cNvPr id="12" name="Rounded Rectangle 11"/>
          <p:cNvSpPr/>
          <p:nvPr/>
        </p:nvSpPr>
        <p:spPr>
          <a:xfrm>
            <a:off x="822960" y="30632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97280" y="33832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4</a:t>
            </a:r>
          </a:p>
        </p:txBody>
      </p:sp>
      <p:sp>
        <p:nvSpPr>
          <p:cNvPr id="14" name="TextBox 13"/>
          <p:cNvSpPr txBox="1"/>
          <p:nvPr/>
        </p:nvSpPr>
        <p:spPr>
          <a:xfrm>
            <a:off x="2011680" y="33832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Construção do DFG</a:t>
            </a:r>
          </a:p>
        </p:txBody>
      </p:sp>
      <p:sp>
        <p:nvSpPr>
          <p:cNvPr id="15" name="Rounded Rectangle 14"/>
          <p:cNvSpPr/>
          <p:nvPr/>
        </p:nvSpPr>
        <p:spPr>
          <a:xfrm>
            <a:off x="4434840" y="30632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09160" y="33832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5</a:t>
            </a:r>
          </a:p>
        </p:txBody>
      </p:sp>
      <p:sp>
        <p:nvSpPr>
          <p:cNvPr id="17" name="TextBox 16"/>
          <p:cNvSpPr txBox="1"/>
          <p:nvPr/>
        </p:nvSpPr>
        <p:spPr>
          <a:xfrm>
            <a:off x="5623560" y="33832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Process Discovery (Alpha/Inductive)</a:t>
            </a:r>
          </a:p>
        </p:txBody>
      </p:sp>
      <p:sp>
        <p:nvSpPr>
          <p:cNvPr id="18" name="Rounded Rectangle 17"/>
          <p:cNvSpPr/>
          <p:nvPr/>
        </p:nvSpPr>
        <p:spPr>
          <a:xfrm>
            <a:off x="8046720" y="30632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321040" y="33832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6</a:t>
            </a:r>
          </a:p>
        </p:txBody>
      </p:sp>
      <p:sp>
        <p:nvSpPr>
          <p:cNvPr id="20" name="TextBox 19"/>
          <p:cNvSpPr txBox="1"/>
          <p:nvPr/>
        </p:nvSpPr>
        <p:spPr>
          <a:xfrm>
            <a:off x="9235440" y="33832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Conformance Checking</a:t>
            </a:r>
          </a:p>
        </p:txBody>
      </p:sp>
      <p:sp>
        <p:nvSpPr>
          <p:cNvPr id="21" name="Rounded Rectangle 20"/>
          <p:cNvSpPr/>
          <p:nvPr/>
        </p:nvSpPr>
        <p:spPr>
          <a:xfrm>
            <a:off x="822960" y="46634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97280" y="49834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7</a:t>
            </a:r>
          </a:p>
        </p:txBody>
      </p:sp>
      <p:sp>
        <p:nvSpPr>
          <p:cNvPr id="23" name="TextBox 22"/>
          <p:cNvSpPr txBox="1"/>
          <p:nvPr/>
        </p:nvSpPr>
        <p:spPr>
          <a:xfrm>
            <a:off x="2011680" y="49834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Performance Analysis</a:t>
            </a:r>
          </a:p>
        </p:txBody>
      </p:sp>
      <p:sp>
        <p:nvSpPr>
          <p:cNvPr id="24" name="Rounded Rectangle 23"/>
          <p:cNvSpPr/>
          <p:nvPr/>
        </p:nvSpPr>
        <p:spPr>
          <a:xfrm>
            <a:off x="4434840" y="46634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09160" y="49834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8</a:t>
            </a:r>
          </a:p>
        </p:txBody>
      </p:sp>
      <p:sp>
        <p:nvSpPr>
          <p:cNvPr id="26" name="TextBox 25"/>
          <p:cNvSpPr txBox="1"/>
          <p:nvPr/>
        </p:nvSpPr>
        <p:spPr>
          <a:xfrm>
            <a:off x="5623560" y="49834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Análise de variantes</a:t>
            </a:r>
          </a:p>
        </p:txBody>
      </p:sp>
      <p:sp>
        <p:nvSpPr>
          <p:cNvPr id="27" name="Rounded Rectangle 26"/>
          <p:cNvSpPr/>
          <p:nvPr/>
        </p:nvSpPr>
        <p:spPr>
          <a:xfrm>
            <a:off x="8046720" y="4663440"/>
            <a:ext cx="3383280" cy="137160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321040" y="4983480"/>
            <a:ext cx="731520" cy="73152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rPr>
              <a:t>9</a:t>
            </a:r>
          </a:p>
        </p:txBody>
      </p:sp>
      <p:sp>
        <p:nvSpPr>
          <p:cNvPr id="29" name="TextBox 28"/>
          <p:cNvSpPr txBox="1"/>
          <p:nvPr/>
        </p:nvSpPr>
        <p:spPr>
          <a:xfrm>
            <a:off x="9235440" y="4983480"/>
            <a:ext cx="2057400" cy="822960"/>
          </a:xfrm>
          <a:prstGeom prst="rect">
            <a:avLst/>
          </a:prstGeom>
          <a:noFill/>
        </p:spPr>
        <p:txBody>
          <a:bodyPr wrap="square" anchor="ctr" lIns="0" rIns="0" tIns="0" bIns="0">
            <a:spAutoFit/>
          </a:bodyPr>
          <a:lstStyle/>
          <a:p>
            <a:pPr algn="l">
              <a:lnSpc>
                <a:spcPct val="105000"/>
              </a:lnSpc>
              <a:spcAft>
                <a:spcPts val="0"/>
              </a:spcAft>
            </a:pPr>
            <a:r>
              <a:rPr sz="1250" b="1" i="0">
                <a:solidFill>
                  <a:srgbClr val="1A1D29"/>
                </a:solidFill>
                <a:latin typeface="Calibri"/>
              </a:rPr>
              <a:t>Síntese e interpretação crítica</a:t>
            </a:r>
          </a:p>
        </p:txBody>
      </p:sp>
      <p:sp>
        <p:nvSpPr>
          <p:cNvPr id="30" name="TextBox 29"/>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31" name="TextBox 30"/>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Resultados — Análise Exploratória (EDA)</a:t>
            </a:r>
          </a:p>
        </p:txBody>
      </p:sp>
      <p:pic>
        <p:nvPicPr>
          <p:cNvPr id="3" name="Picture 2" descr="01_activity_frequency.png"/>
          <p:cNvPicPr>
            <a:picLocks noChangeAspect="1"/>
          </p:cNvPicPr>
          <p:nvPr/>
        </p:nvPicPr>
        <p:blipFill>
          <a:blip r:embed="rId2"/>
          <a:stretch>
            <a:fillRect/>
          </a:stretch>
        </p:blipFill>
        <p:spPr>
          <a:xfrm>
            <a:off x="640080" y="1645920"/>
            <a:ext cx="5212080" cy="3909060"/>
          </a:xfrm>
          <a:prstGeom prst="rect">
            <a:avLst/>
          </a:prstGeom>
        </p:spPr>
      </p:pic>
      <p:pic>
        <p:nvPicPr>
          <p:cNvPr id="4" name="Picture 3" descr="02_temporal_distribution.png"/>
          <p:cNvPicPr>
            <a:picLocks noChangeAspect="1"/>
          </p:cNvPicPr>
          <p:nvPr/>
        </p:nvPicPr>
        <p:blipFill>
          <a:blip r:embed="rId3"/>
          <a:stretch>
            <a:fillRect/>
          </a:stretch>
        </p:blipFill>
        <p:spPr>
          <a:xfrm>
            <a:off x="6355080" y="2194560"/>
            <a:ext cx="5212080" cy="2606040"/>
          </a:xfrm>
          <a:prstGeom prst="rect">
            <a:avLst/>
          </a:prstGeom>
        </p:spPr>
      </p:pic>
      <p:sp>
        <p:nvSpPr>
          <p:cNvPr id="5" name="TextBox 4"/>
          <p:cNvSpPr txBox="1"/>
          <p:nvPr/>
        </p:nvSpPr>
        <p:spPr>
          <a:xfrm>
            <a:off x="822960" y="5806440"/>
            <a:ext cx="10515600" cy="548640"/>
          </a:xfrm>
          <a:prstGeom prst="rect">
            <a:avLst/>
          </a:prstGeom>
          <a:noFill/>
        </p:spPr>
        <p:txBody>
          <a:bodyPr wrap="square" anchor="t" lIns="0" rIns="0" tIns="0" bIns="0">
            <a:spAutoFit/>
          </a:bodyPr>
          <a:lstStyle/>
          <a:p>
            <a:pPr algn="ctr">
              <a:lnSpc>
                <a:spcPct val="100000"/>
              </a:lnSpc>
              <a:spcAft>
                <a:spcPts val="0"/>
              </a:spcAft>
            </a:pPr>
            <a:r>
              <a:rPr sz="1400" b="1" i="0">
                <a:solidFill>
                  <a:srgbClr val="1E2761"/>
                </a:solidFill>
                <a:latin typeface="Calibri"/>
              </a:rPr>
              <a:t>3.000 casos  •  54.597 eventos  •  23 atividades  •  169 variantes</a:t>
            </a:r>
          </a:p>
        </p:txBody>
      </p:sp>
      <p:sp>
        <p:nvSpPr>
          <p:cNvPr id="6" name="TextBox 5"/>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7" name="TextBox 6"/>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Resultados — Process Discovery</a:t>
            </a:r>
          </a:p>
        </p:txBody>
      </p:sp>
      <p:sp>
        <p:nvSpPr>
          <p:cNvPr id="3" name="TextBox 2"/>
          <p:cNvSpPr txBox="1"/>
          <p:nvPr/>
        </p:nvSpPr>
        <p:spPr>
          <a:xfrm>
            <a:off x="822960" y="141732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5A5F6E"/>
                </a:solidFill>
                <a:latin typeface="Calibri"/>
              </a:rPr>
              <a:t>DFG completo</a:t>
            </a:r>
          </a:p>
        </p:txBody>
      </p:sp>
      <p:pic>
        <p:nvPicPr>
          <p:cNvPr id="4" name="Picture 3" descr="06_dfg_full.png"/>
          <p:cNvPicPr>
            <a:picLocks noChangeAspect="1"/>
          </p:cNvPicPr>
          <p:nvPr/>
        </p:nvPicPr>
        <p:blipFill>
          <a:blip r:embed="rId2"/>
          <a:stretch>
            <a:fillRect/>
          </a:stretch>
        </p:blipFill>
        <p:spPr>
          <a:xfrm>
            <a:off x="822960" y="1783080"/>
            <a:ext cx="10515600" cy="878037"/>
          </a:xfrm>
          <a:prstGeom prst="rect">
            <a:avLst/>
          </a:prstGeom>
        </p:spPr>
      </p:pic>
      <p:sp>
        <p:nvSpPr>
          <p:cNvPr id="5" name="TextBox 4"/>
          <p:cNvSpPr txBox="1"/>
          <p:nvPr/>
        </p:nvSpPr>
        <p:spPr>
          <a:xfrm>
            <a:off x="822960" y="324612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5A5F6E"/>
                </a:solidFill>
                <a:latin typeface="Calibri"/>
              </a:rPr>
              <a:t>DFG filtrado por frequência</a:t>
            </a:r>
          </a:p>
        </p:txBody>
      </p:sp>
      <p:pic>
        <p:nvPicPr>
          <p:cNvPr id="6" name="Picture 5" descr="07_dfg_filtered_heuristic.png"/>
          <p:cNvPicPr>
            <a:picLocks noChangeAspect="1"/>
          </p:cNvPicPr>
          <p:nvPr/>
        </p:nvPicPr>
        <p:blipFill>
          <a:blip r:embed="rId3"/>
          <a:stretch>
            <a:fillRect/>
          </a:stretch>
        </p:blipFill>
        <p:spPr>
          <a:xfrm>
            <a:off x="822960" y="3611880"/>
            <a:ext cx="10515600" cy="842561"/>
          </a:xfrm>
          <a:prstGeom prst="rect">
            <a:avLst/>
          </a:prstGeom>
        </p:spPr>
      </p:pic>
      <p:sp>
        <p:nvSpPr>
          <p:cNvPr id="7" name="TextBox 6"/>
          <p:cNvSpPr txBox="1"/>
          <p:nvPr/>
        </p:nvSpPr>
        <p:spPr>
          <a:xfrm>
            <a:off x="822960" y="5715000"/>
            <a:ext cx="10515600" cy="640080"/>
          </a:xfrm>
          <a:prstGeom prst="rect">
            <a:avLst/>
          </a:prstGeom>
          <a:noFill/>
        </p:spPr>
        <p:txBody>
          <a:bodyPr wrap="square" anchor="t" lIns="0" rIns="0" tIns="0" bIns="0">
            <a:spAutoFit/>
          </a:bodyPr>
          <a:lstStyle/>
          <a:p>
            <a:pPr algn="ctr">
              <a:lnSpc>
                <a:spcPct val="100000"/>
              </a:lnSpc>
              <a:spcAft>
                <a:spcPts val="0"/>
              </a:spcAft>
            </a:pPr>
            <a:r>
              <a:rPr sz="1350" b="0" i="1">
                <a:solidFill>
                  <a:srgbClr val="5A5F6E"/>
                </a:solidFill>
                <a:latin typeface="Calibri"/>
              </a:rPr>
              <a:t>Alpha Miner: 23 lugares / 23 transições  •  Inductive Miner: modelo flor com 23 folhas (fallback por alta variabilidade)</a:t>
            </a:r>
          </a:p>
        </p:txBody>
      </p:sp>
      <p:sp>
        <p:nvSpPr>
          <p:cNvPr id="8" name="TextBox 7"/>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9" name="TextBox 8"/>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Resultados — Conformance Checking</a:t>
            </a:r>
          </a:p>
        </p:txBody>
      </p:sp>
      <p:pic>
        <p:nvPicPr>
          <p:cNvPr id="3" name="Picture 2" descr="09_conformance_metrics.png"/>
          <p:cNvPicPr>
            <a:picLocks noChangeAspect="1"/>
          </p:cNvPicPr>
          <p:nvPr/>
        </p:nvPicPr>
        <p:blipFill>
          <a:blip r:embed="rId2"/>
          <a:stretch>
            <a:fillRect/>
          </a:stretch>
        </p:blipFill>
        <p:spPr>
          <a:xfrm>
            <a:off x="640080" y="1417320"/>
            <a:ext cx="5486400" cy="3017520"/>
          </a:xfrm>
          <a:prstGeom prst="rect">
            <a:avLst/>
          </a:prstGeom>
        </p:spPr>
      </p:pic>
      <p:graphicFrame>
        <p:nvGraphicFramePr>
          <p:cNvPr id="4" name="Table 3"/>
          <p:cNvGraphicFramePr>
            <a:graphicFrameLocks noGrp="1"/>
          </p:cNvGraphicFramePr>
          <p:nvPr/>
        </p:nvGraphicFramePr>
        <p:xfrm>
          <a:off x="822960" y="4617720"/>
          <a:ext cx="10515600" cy="1463040"/>
        </p:xfrm>
        <a:graphic>
          <a:graphicData uri="http://schemas.openxmlformats.org/drawingml/2006/table">
            <a:tbl>
              <a:tblPr firstRow="1" bandRow="1">
                <a:tableStyleId>{5C22544A-7EE6-4342-B048-85BDC9FD1C3A}</a:tableStyleId>
              </a:tblPr>
              <a:tblGrid>
                <a:gridCol w="2628900"/>
                <a:gridCol w="2628900"/>
                <a:gridCol w="2628900"/>
                <a:gridCol w="2628900"/>
              </a:tblGrid>
              <a:tr h="487680">
                <a:tc>
                  <a:txBody>
                    <a:bodyPr/>
                    <a:lstStyle/>
                    <a:p>
                      <a:pPr algn="ctr"/>
                      <a:r>
                        <a:rPr sz="1400" b="1">
                          <a:solidFill>
                            <a:srgbClr val="FFFFFF"/>
                          </a:solidFill>
                          <a:latin typeface="Calibri"/>
                        </a:rPr>
                        <a:t>Modelo</a:t>
                      </a:r>
                    </a:p>
                  </a:txBody>
                  <a:tcPr>
                    <a:solidFill>
                      <a:srgbClr val="1E2761"/>
                    </a:solidFill>
                  </a:tcPr>
                </a:tc>
                <a:tc>
                  <a:txBody>
                    <a:bodyPr/>
                    <a:lstStyle/>
                    <a:p>
                      <a:pPr algn="ctr"/>
                      <a:r>
                        <a:rPr sz="1400" b="1">
                          <a:solidFill>
                            <a:srgbClr val="FFFFFF"/>
                          </a:solidFill>
                          <a:latin typeface="Calibri"/>
                        </a:rPr>
                        <a:t>Fitness</a:t>
                      </a:r>
                    </a:p>
                  </a:txBody>
                  <a:tcPr>
                    <a:solidFill>
                      <a:srgbClr val="1E2761"/>
                    </a:solidFill>
                  </a:tcPr>
                </a:tc>
                <a:tc>
                  <a:txBody>
                    <a:bodyPr/>
                    <a:lstStyle/>
                    <a:p>
                      <a:pPr algn="ctr"/>
                      <a:r>
                        <a:rPr sz="1400" b="1">
                          <a:solidFill>
                            <a:srgbClr val="FFFFFF"/>
                          </a:solidFill>
                          <a:latin typeface="Calibri"/>
                        </a:rPr>
                        <a:t>Precision</a:t>
                      </a:r>
                    </a:p>
                  </a:txBody>
                  <a:tcPr>
                    <a:solidFill>
                      <a:srgbClr val="1E2761"/>
                    </a:solidFill>
                  </a:tcPr>
                </a:tc>
                <a:tc>
                  <a:txBody>
                    <a:bodyPr/>
                    <a:lstStyle/>
                    <a:p>
                      <a:pPr algn="ctr"/>
                      <a:r>
                        <a:rPr sz="1400" b="1">
                          <a:solidFill>
                            <a:srgbClr val="FFFFFF"/>
                          </a:solidFill>
                          <a:latin typeface="Calibri"/>
                        </a:rPr>
                        <a:t>Simplicity</a:t>
                      </a:r>
                    </a:p>
                  </a:txBody>
                  <a:tcPr>
                    <a:solidFill>
                      <a:srgbClr val="1E2761"/>
                    </a:solidFill>
                  </a:tcPr>
                </a:tc>
              </a:tr>
              <a:tr h="487680">
                <a:tc>
                  <a:txBody>
                    <a:bodyPr/>
                    <a:lstStyle/>
                    <a:p>
                      <a:pPr algn="ctr"/>
                      <a:r>
                        <a:rPr sz="1400" b="0">
                          <a:solidFill>
                            <a:srgbClr val="1A1D29"/>
                          </a:solidFill>
                          <a:latin typeface="Calibri"/>
                        </a:rPr>
                        <a:t>Alpha Miner (estrito)</a:t>
                      </a:r>
                    </a:p>
                  </a:txBody>
                  <a:tcPr>
                    <a:solidFill>
                      <a:srgbClr val="FFFFFF"/>
                    </a:solidFill>
                  </a:tcPr>
                </a:tc>
                <a:tc>
                  <a:txBody>
                    <a:bodyPr/>
                    <a:lstStyle/>
                    <a:p>
                      <a:pPr algn="ctr"/>
                      <a:r>
                        <a:rPr sz="1400" b="0">
                          <a:solidFill>
                            <a:srgbClr val="1A1D29"/>
                          </a:solidFill>
                          <a:latin typeface="Calibri"/>
                        </a:rPr>
                        <a:t>0.99</a:t>
                      </a:r>
                    </a:p>
                  </a:txBody>
                  <a:tcPr>
                    <a:solidFill>
                      <a:srgbClr val="FFFFFF"/>
                    </a:solidFill>
                  </a:tcPr>
                </a:tc>
                <a:tc>
                  <a:txBody>
                    <a:bodyPr/>
                    <a:lstStyle/>
                    <a:p>
                      <a:pPr algn="ctr"/>
                      <a:r>
                        <a:rPr sz="1400" b="0">
                          <a:solidFill>
                            <a:srgbClr val="1A1D29"/>
                          </a:solidFill>
                          <a:latin typeface="Calibri"/>
                        </a:rPr>
                        <a:t>1.00</a:t>
                      </a:r>
                    </a:p>
                  </a:txBody>
                  <a:tcPr>
                    <a:solidFill>
                      <a:srgbClr val="FFFFFF"/>
                    </a:solidFill>
                  </a:tcPr>
                </a:tc>
                <a:tc>
                  <a:txBody>
                    <a:bodyPr/>
                    <a:lstStyle/>
                    <a:p>
                      <a:pPr algn="ctr"/>
                      <a:r>
                        <a:rPr sz="1400" b="0">
                          <a:solidFill>
                            <a:srgbClr val="1A1D29"/>
                          </a:solidFill>
                          <a:latin typeface="Calibri"/>
                        </a:rPr>
                        <a:t>0.91</a:t>
                      </a:r>
                    </a:p>
                  </a:txBody>
                  <a:tcPr>
                    <a:solidFill>
                      <a:srgbClr val="FFFFFF"/>
                    </a:solidFill>
                  </a:tcPr>
                </a:tc>
              </a:tr>
              <a:tr h="487680">
                <a:tc>
                  <a:txBody>
                    <a:bodyPr/>
                    <a:lstStyle/>
                    <a:p>
                      <a:pPr algn="ctr"/>
                      <a:r>
                        <a:rPr sz="1400" b="0">
                          <a:solidFill>
                            <a:srgbClr val="1A1D29"/>
                          </a:solidFill>
                          <a:latin typeface="Calibri"/>
                        </a:rPr>
                        <a:t>Inductive Miner (flor)</a:t>
                      </a:r>
                    </a:p>
                  </a:txBody>
                  <a:tcPr>
                    <a:solidFill>
                      <a:srgbClr val="F3F5FA"/>
                    </a:solidFill>
                  </a:tcPr>
                </a:tc>
                <a:tc>
                  <a:txBody>
                    <a:bodyPr/>
                    <a:lstStyle/>
                    <a:p>
                      <a:pPr algn="ctr"/>
                      <a:r>
                        <a:rPr sz="1400" b="0">
                          <a:solidFill>
                            <a:srgbClr val="1A1D29"/>
                          </a:solidFill>
                          <a:latin typeface="Calibri"/>
                        </a:rPr>
                        <a:t>1.00</a:t>
                      </a:r>
                    </a:p>
                  </a:txBody>
                  <a:tcPr>
                    <a:solidFill>
                      <a:srgbClr val="F3F5FA"/>
                    </a:solidFill>
                  </a:tcPr>
                </a:tc>
                <a:tc>
                  <a:txBody>
                    <a:bodyPr/>
                    <a:lstStyle/>
                    <a:p>
                      <a:pPr algn="ctr"/>
                      <a:r>
                        <a:rPr sz="1400" b="0">
                          <a:solidFill>
                            <a:srgbClr val="1A1D29"/>
                          </a:solidFill>
                          <a:latin typeface="Calibri"/>
                        </a:rPr>
                        <a:t>0.07</a:t>
                      </a:r>
                    </a:p>
                  </a:txBody>
                  <a:tcPr>
                    <a:solidFill>
                      <a:srgbClr val="F3F5FA"/>
                    </a:solidFill>
                  </a:tcPr>
                </a:tc>
                <a:tc>
                  <a:txBody>
                    <a:bodyPr/>
                    <a:lstStyle/>
                    <a:p>
                      <a:pPr algn="ctr"/>
                      <a:r>
                        <a:rPr sz="1400" b="0">
                          <a:solidFill>
                            <a:srgbClr val="1A1D29"/>
                          </a:solidFill>
                          <a:latin typeface="Calibri"/>
                        </a:rPr>
                        <a:t>0.19</a:t>
                      </a:r>
                    </a:p>
                  </a:txBody>
                  <a:tcPr>
                    <a:solidFill>
                      <a:srgbClr val="F3F5FA"/>
                    </a:solidFill>
                  </a:tcPr>
                </a:tc>
              </a:tr>
            </a:tbl>
          </a:graphicData>
        </a:graphic>
      </p:graphicFrame>
      <p:sp>
        <p:nvSpPr>
          <p:cNvPr id="5" name="TextBox 4"/>
          <p:cNvSpPr txBox="1"/>
          <p:nvPr/>
        </p:nvSpPr>
        <p:spPr>
          <a:xfrm>
            <a:off x="822960" y="6263640"/>
            <a:ext cx="10515600" cy="457200"/>
          </a:xfrm>
          <a:prstGeom prst="rect">
            <a:avLst/>
          </a:prstGeom>
          <a:noFill/>
        </p:spPr>
        <p:txBody>
          <a:bodyPr wrap="square" anchor="t" lIns="0" rIns="0" tIns="0" bIns="0">
            <a:spAutoFit/>
          </a:bodyPr>
          <a:lstStyle/>
          <a:p>
            <a:pPr algn="ctr">
              <a:lnSpc>
                <a:spcPct val="100000"/>
              </a:lnSpc>
              <a:spcAft>
                <a:spcPts val="0"/>
              </a:spcAft>
            </a:pPr>
            <a:r>
              <a:rPr sz="1250" b="0" i="1">
                <a:solidFill>
                  <a:srgbClr val="5A5F6E"/>
                </a:solidFill>
                <a:latin typeface="Calibri"/>
              </a:rPr>
              <a:t>Trade-off clássico fitness × precision: o modelo flor do Inductive Miner alcança fitness quase perfeita ao custo de precisão muito baixa.</a:t>
            </a:r>
          </a:p>
        </p:txBody>
      </p:sp>
      <p:sp>
        <p:nvSpPr>
          <p:cNvPr id="6" name="TextBox 5"/>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~1,5 min</a:t>
            </a:r>
          </a:p>
        </p:txBody>
      </p:sp>
      <p:sp>
        <p:nvSpPr>
          <p:cNvPr id="7" name="TextBox 6"/>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Resultados — Performance e Gargalos</a:t>
            </a:r>
          </a:p>
        </p:txBody>
      </p:sp>
      <p:pic>
        <p:nvPicPr>
          <p:cNvPr id="3" name="Picture 2" descr="11_bottlenecks.png"/>
          <p:cNvPicPr>
            <a:picLocks noChangeAspect="1"/>
          </p:cNvPicPr>
          <p:nvPr/>
        </p:nvPicPr>
        <p:blipFill>
          <a:blip r:embed="rId2"/>
          <a:stretch>
            <a:fillRect/>
          </a:stretch>
        </p:blipFill>
        <p:spPr>
          <a:xfrm>
            <a:off x="548640" y="1554480"/>
            <a:ext cx="6035040" cy="3621024"/>
          </a:xfrm>
          <a:prstGeom prst="rect">
            <a:avLst/>
          </a:prstGeom>
        </p:spPr>
      </p:pic>
      <p:sp>
        <p:nvSpPr>
          <p:cNvPr id="4" name="TextBox 3"/>
          <p:cNvSpPr txBox="1"/>
          <p:nvPr/>
        </p:nvSpPr>
        <p:spPr>
          <a:xfrm>
            <a:off x="6949440" y="1737360"/>
            <a:ext cx="4663440" cy="3931920"/>
          </a:xfrm>
          <a:prstGeom prst="rect">
            <a:avLst/>
          </a:prstGeom>
          <a:noFill/>
        </p:spPr>
        <p:txBody>
          <a:bodyPr wrap="square" anchor="t" lIns="0" rIns="0" tIns="0" bIns="0">
            <a:spAutoFit/>
          </a:bodyPr>
          <a:lstStyle/>
          <a:p>
            <a:pPr algn="l">
              <a:lnSpc>
                <a:spcPct val="140000"/>
              </a:lnSpc>
              <a:spcAft>
                <a:spcPts val="0"/>
              </a:spcAft>
            </a:pPr>
            <a:r>
              <a:rPr sz="1600" b="0" i="0">
                <a:solidFill>
                  <a:srgbClr val="1E2761"/>
                </a:solidFill>
                <a:latin typeface="Calibri"/>
              </a:rPr>
              <a:t>Maior gargalo identificado:</a:t>
            </a:r>
          </a:p>
          <a:p>
            <a:pPr algn="l">
              <a:lnSpc>
                <a:spcPct val="140000"/>
              </a:lnSpc>
              <a:spcAft>
                <a:spcPts val="0"/>
              </a:spcAft>
            </a:pPr>
            <a:r>
              <a:rPr sz="1600" b="0" i="0">
                <a:solidFill>
                  <a:srgbClr val="1E2761"/>
                </a:solidFill>
                <a:latin typeface="Calibri"/>
              </a:rPr>
              <a:t>O_Sent (mail and online) → W_Call after offers</a:t>
            </a:r>
          </a:p>
          <a:p>
            <a:pPr algn="l">
              <a:lnSpc>
                <a:spcPct val="140000"/>
              </a:lnSpc>
              <a:spcAft>
                <a:spcPts val="0"/>
              </a:spcAft>
            </a:pPr>
            <a:r>
              <a:rPr sz="1600" b="0" i="0">
                <a:solidFill>
                  <a:srgbClr val="1E2761"/>
                </a:solidFill>
                <a:latin typeface="Calibri"/>
              </a:rPr>
              <a:t>Tempo médio de espera: 30.4 horas</a:t>
            </a:r>
          </a:p>
          <a:p>
            <a:pPr algn="l">
              <a:lnSpc>
                <a:spcPct val="140000"/>
              </a:lnSpc>
              <a:spcAft>
                <a:spcPts val="0"/>
              </a:spcAft>
            </a:pPr>
            <a:r>
              <a:rPr sz="1600" b="0" i="0">
                <a:solidFill>
                  <a:srgbClr val="1E2761"/>
                </a:solidFill>
                <a:latin typeface="Calibri"/>
              </a:rPr>
              <a:t>Mediana: 20.4 h   •   P90: 64.7 h</a:t>
            </a:r>
          </a:p>
          <a:p>
            <a:pPr algn="l">
              <a:lnSpc>
                <a:spcPct val="140000"/>
              </a:lnSpc>
              <a:spcAft>
                <a:spcPts val="0"/>
              </a:spcAft>
            </a:pPr>
            <a:r>
              <a:rPr sz="1600" b="0" i="0">
                <a:solidFill>
                  <a:srgbClr val="1E2761"/>
                </a:solidFill>
                <a:latin typeface="Calibri"/>
              </a:rPr>
              <a:t>Ocorrências: 4.041</a:t>
            </a:r>
          </a:p>
        </p:txBody>
      </p:sp>
      <p:sp>
        <p:nvSpPr>
          <p:cNvPr id="5" name="TextBox 4"/>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6" name="TextBox 5"/>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FFFFFF"/>
                </a:solidFill>
                <a:latin typeface="Cambria"/>
              </a:rPr>
              <a:t>Síntese — Insights Gerenciais</a:t>
            </a:r>
          </a:p>
        </p:txBody>
      </p:sp>
      <p:sp>
        <p:nvSpPr>
          <p:cNvPr id="3" name="TextBox 2"/>
          <p:cNvSpPr txBox="1"/>
          <p:nvPr/>
        </p:nvSpPr>
        <p:spPr>
          <a:xfrm>
            <a:off x="822960" y="1554480"/>
            <a:ext cx="10515600" cy="4389120"/>
          </a:xfrm>
          <a:prstGeom prst="rect">
            <a:avLst/>
          </a:prstGeom>
          <a:noFill/>
        </p:spPr>
        <p:txBody>
          <a:bodyPr wrap="square" lIns="0" rIns="0" tIns="0" bIns="0">
            <a:spAutoFit/>
          </a:bodyPr>
          <a:lstStyle/>
          <a:p>
            <a:pPr>
              <a:lnSpc>
                <a:spcPct val="112000"/>
              </a:lnSpc>
              <a:spcAft>
                <a:spcPts val="1000"/>
              </a:spcAft>
            </a:pPr>
            <a:r>
              <a:rPr b="1" sz="1550">
                <a:solidFill>
                  <a:srgbClr val="CADCFC"/>
                </a:solidFill>
                <a:latin typeface="Calibri"/>
              </a:rPr>
              <a:t>● O processo real diverge do ideal</a:t>
            </a:r>
            <a:r>
              <a:rPr sz="1550">
                <a:solidFill>
                  <a:srgbClr val="FFFFFF"/>
                </a:solidFill>
                <a:latin typeface="Calibri"/>
              </a:rPr>
              <a:t> múltiplas variantes (169) mostram retrabalho e caminhos alternativos não previstos em um fluxo padrão.</a:t>
            </a:r>
          </a:p>
          <a:p>
            <a:pPr>
              <a:lnSpc>
                <a:spcPct val="112000"/>
              </a:lnSpc>
              <a:spcAft>
                <a:spcPts val="1000"/>
              </a:spcAft>
            </a:pPr>
            <a:r>
              <a:rPr b="1" sz="1550">
                <a:solidFill>
                  <a:srgbClr val="CADCFC"/>
                </a:solidFill>
                <a:latin typeface="Calibri"/>
              </a:rPr>
              <a:t>● Gargalos concentram-se na fase de ofertas</a:t>
            </a:r>
            <a:r>
              <a:rPr sz="1550">
                <a:solidFill>
                  <a:srgbClr val="FFFFFF"/>
                </a:solidFill>
                <a:latin typeface="Calibri"/>
              </a:rPr>
              <a:t> a transição de envio de oferta para nova ligação de follow-up é o maior ponto de demora.</a:t>
            </a:r>
          </a:p>
          <a:p>
            <a:pPr>
              <a:lnSpc>
                <a:spcPct val="112000"/>
              </a:lnSpc>
              <a:spcAft>
                <a:spcPts val="1000"/>
              </a:spcAft>
            </a:pPr>
            <a:r>
              <a:rPr b="1" sz="1550">
                <a:solidFill>
                  <a:srgbClr val="CADCFC"/>
                </a:solidFill>
                <a:latin typeface="Calibri"/>
              </a:rPr>
              <a:t>● Modelos simples podem ser mais úteis que modelos completos</a:t>
            </a:r>
            <a:r>
              <a:rPr sz="1550">
                <a:solidFill>
                  <a:srgbClr val="FFFFFF"/>
                </a:solidFill>
                <a:latin typeface="Calibri"/>
              </a:rPr>
              <a:t> o Alpha Miner, mais restritivo, ofereceu melhor poder diagnóstico que o modelo flor.</a:t>
            </a:r>
          </a:p>
          <a:p>
            <a:pPr>
              <a:lnSpc>
                <a:spcPct val="112000"/>
              </a:lnSpc>
              <a:spcAft>
                <a:spcPts val="1000"/>
              </a:spcAft>
            </a:pPr>
            <a:r>
              <a:rPr b="1" sz="1550">
                <a:solidFill>
                  <a:srgbClr val="CADCFC"/>
                </a:solidFill>
                <a:latin typeface="Calibri"/>
              </a:rPr>
              <a:t>● Conformidade não é absoluta</a:t>
            </a:r>
            <a:r>
              <a:rPr sz="1550">
                <a:solidFill>
                  <a:srgbClr val="FFFFFF"/>
                </a:solidFill>
                <a:latin typeface="Calibri"/>
              </a:rPr>
              <a:t> fitness alta não garante um modelo útil — precision e simplicity são igualmente decisivas.</a:t>
            </a:r>
          </a:p>
        </p:txBody>
      </p:sp>
      <p:sp>
        <p:nvSpPr>
          <p:cNvPr id="4" name="TextBox 3"/>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5" name="TextBox 4"/>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1E2761"/>
                </a:solidFill>
                <a:latin typeface="Cambria"/>
              </a:rPr>
              <a:t>Limitações e Trabalhos Futuros</a:t>
            </a:r>
          </a:p>
        </p:txBody>
      </p:sp>
      <p:sp>
        <p:nvSpPr>
          <p:cNvPr id="3" name="Rounded Rectangle 2"/>
          <p:cNvSpPr/>
          <p:nvPr/>
        </p:nvSpPr>
        <p:spPr>
          <a:xfrm>
            <a:off x="82296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Limitações</a:t>
            </a:r>
          </a:p>
        </p:txBody>
      </p:sp>
      <p:sp>
        <p:nvSpPr>
          <p:cNvPr id="5" name="TextBox 4"/>
          <p:cNvSpPr txBox="1"/>
          <p:nvPr/>
        </p:nvSpPr>
        <p:spPr>
          <a:xfrm>
            <a:off x="1097280" y="2194560"/>
            <a:ext cx="4572000" cy="3383280"/>
          </a:xfrm>
          <a:prstGeom prst="rect">
            <a:avLst/>
          </a:prstGeom>
          <a:noFill/>
        </p:spPr>
        <p:txBody>
          <a:bodyPr wrap="square" lIns="0" rIns="0" tIns="0" bIns="0">
            <a:spAutoFit/>
          </a:bodyPr>
          <a:lstStyle/>
          <a:p>
            <a:pPr>
              <a:lnSpc>
                <a:spcPct val="112000"/>
              </a:lnSpc>
              <a:spcAft>
                <a:spcPts val="1000"/>
              </a:spcAft>
            </a:pPr>
            <a:r>
              <a:rPr sz="1350">
                <a:solidFill>
                  <a:srgbClr val="1A1D29"/>
                </a:solidFill>
                <a:latin typeface="Calibri"/>
              </a:rPr>
              <a:t>●  Log sintético — não captura todo ruído e idiossincrasias do log real do BPI17.</a:t>
            </a:r>
          </a:p>
          <a:p>
            <a:pPr>
              <a:lnSpc>
                <a:spcPct val="112000"/>
              </a:lnSpc>
              <a:spcAft>
                <a:spcPts val="1000"/>
              </a:spcAft>
            </a:pPr>
            <a:r>
              <a:rPr sz="1350">
                <a:solidFill>
                  <a:srgbClr val="1A1D29"/>
                </a:solidFill>
                <a:latin typeface="Calibri"/>
              </a:rPr>
              <a:t>●  Algoritmos próprios podem divergir em detalhes de implementação de PM4Py.</a:t>
            </a:r>
          </a:p>
          <a:p>
            <a:pPr>
              <a:lnSpc>
                <a:spcPct val="112000"/>
              </a:lnSpc>
              <a:spcAft>
                <a:spcPts val="1000"/>
              </a:spcAft>
            </a:pPr>
            <a:r>
              <a:rPr sz="1350">
                <a:solidFill>
                  <a:srgbClr val="1A1D29"/>
                </a:solidFill>
                <a:latin typeface="Calibri"/>
              </a:rPr>
              <a:t>●  Heuristic Miner substituído por DFG filtrado por frequência (simplificação).</a:t>
            </a:r>
          </a:p>
          <a:p>
            <a:pPr>
              <a:lnSpc>
                <a:spcPct val="112000"/>
              </a:lnSpc>
              <a:spcAft>
                <a:spcPts val="1000"/>
              </a:spcAft>
            </a:pPr>
            <a:r>
              <a:rPr sz="1350">
                <a:solidFill>
                  <a:srgbClr val="1A1D29"/>
                </a:solidFill>
                <a:latin typeface="Calibri"/>
              </a:rPr>
              <a:t>●  Sem validação cruzada com o dataset real (UCI/4TU).</a:t>
            </a:r>
          </a:p>
        </p:txBody>
      </p:sp>
      <p:sp>
        <p:nvSpPr>
          <p:cNvPr id="6" name="Rounded Rectangle 5"/>
          <p:cNvSpPr/>
          <p:nvPr/>
        </p:nvSpPr>
        <p:spPr>
          <a:xfrm>
            <a:off x="6217920" y="1417320"/>
            <a:ext cx="5120640" cy="4480560"/>
          </a:xfrm>
          <a:prstGeom prst="round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572000" cy="457200"/>
          </a:xfrm>
          <a:prstGeom prst="rect">
            <a:avLst/>
          </a:prstGeom>
          <a:noFill/>
        </p:spPr>
        <p:txBody>
          <a:bodyPr wrap="square" anchor="t" lIns="0" rIns="0" tIns="0" bIns="0">
            <a:spAutoFit/>
          </a:bodyPr>
          <a:lstStyle/>
          <a:p>
            <a:pPr algn="l">
              <a:lnSpc>
                <a:spcPct val="100000"/>
              </a:lnSpc>
              <a:spcAft>
                <a:spcPts val="0"/>
              </a:spcAft>
            </a:pPr>
            <a:r>
              <a:rPr sz="1700" b="1" i="0">
                <a:solidFill>
                  <a:srgbClr val="1E2761"/>
                </a:solidFill>
                <a:latin typeface="Calibri"/>
              </a:rPr>
              <a:t>Trabalhos Futuros</a:t>
            </a:r>
          </a:p>
        </p:txBody>
      </p:sp>
      <p:sp>
        <p:nvSpPr>
          <p:cNvPr id="8" name="TextBox 7"/>
          <p:cNvSpPr txBox="1"/>
          <p:nvPr/>
        </p:nvSpPr>
        <p:spPr>
          <a:xfrm>
            <a:off x="6492240" y="2194560"/>
            <a:ext cx="4572000" cy="3383280"/>
          </a:xfrm>
          <a:prstGeom prst="rect">
            <a:avLst/>
          </a:prstGeom>
          <a:noFill/>
        </p:spPr>
        <p:txBody>
          <a:bodyPr wrap="square" lIns="0" rIns="0" tIns="0" bIns="0">
            <a:spAutoFit/>
          </a:bodyPr>
          <a:lstStyle/>
          <a:p>
            <a:pPr>
              <a:lnSpc>
                <a:spcPct val="112000"/>
              </a:lnSpc>
              <a:spcAft>
                <a:spcPts val="1000"/>
              </a:spcAft>
            </a:pPr>
            <a:r>
              <a:rPr sz="1350">
                <a:solidFill>
                  <a:srgbClr val="1A1D29"/>
                </a:solidFill>
                <a:latin typeface="Calibri"/>
              </a:rPr>
              <a:t>●  Repetir a análise com o dataset real do BPI17 quando houver acesso à internet/PM4Py.</a:t>
            </a:r>
          </a:p>
          <a:p>
            <a:pPr>
              <a:lnSpc>
                <a:spcPct val="112000"/>
              </a:lnSpc>
              <a:spcAft>
                <a:spcPts val="1000"/>
              </a:spcAft>
            </a:pPr>
            <a:r>
              <a:rPr sz="1350">
                <a:solidFill>
                  <a:srgbClr val="1A1D29"/>
                </a:solidFill>
                <a:latin typeface="Calibri"/>
              </a:rPr>
              <a:t>●  Implementar Heuristic Miner completo (com thresholds de dependência).</a:t>
            </a:r>
          </a:p>
          <a:p>
            <a:pPr>
              <a:lnSpc>
                <a:spcPct val="112000"/>
              </a:lnSpc>
              <a:spcAft>
                <a:spcPts val="1000"/>
              </a:spcAft>
            </a:pPr>
            <a:r>
              <a:rPr sz="1350">
                <a:solidFill>
                  <a:srgbClr val="1A1D29"/>
                </a:solidFill>
                <a:latin typeface="Calibri"/>
              </a:rPr>
              <a:t>●  Explorar técnicas de clustering de variantes para reduzir as 169 variantes a perfis.</a:t>
            </a:r>
          </a:p>
          <a:p>
            <a:pPr>
              <a:lnSpc>
                <a:spcPct val="112000"/>
              </a:lnSpc>
              <a:spcAft>
                <a:spcPts val="1000"/>
              </a:spcAft>
            </a:pPr>
            <a:r>
              <a:rPr sz="1350">
                <a:solidFill>
                  <a:srgbClr val="1A1D29"/>
                </a:solidFill>
                <a:latin typeface="Calibri"/>
              </a:rPr>
              <a:t>●  Avaliar custo-benefício de intervenções nos gargalos identificados.</a:t>
            </a:r>
          </a:p>
        </p:txBody>
      </p:sp>
      <p:sp>
        <p:nvSpPr>
          <p:cNvPr id="9" name="TextBox 8"/>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~1 min</a:t>
            </a:r>
          </a:p>
        </p:txBody>
      </p:sp>
      <p:sp>
        <p:nvSpPr>
          <p:cNvPr id="10" name="TextBox 9"/>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TextBox 1"/>
          <p:cNvSpPr txBox="1"/>
          <p:nvPr/>
        </p:nvSpPr>
        <p:spPr>
          <a:xfrm>
            <a:off x="548640" y="365760"/>
            <a:ext cx="11064240" cy="822960"/>
          </a:xfrm>
          <a:prstGeom prst="rect">
            <a:avLst/>
          </a:prstGeom>
          <a:noFill/>
        </p:spPr>
        <p:txBody>
          <a:bodyPr wrap="square" anchor="t" lIns="0" rIns="0" tIns="0" bIns="0">
            <a:spAutoFit/>
          </a:bodyPr>
          <a:lstStyle/>
          <a:p>
            <a:pPr algn="l">
              <a:lnSpc>
                <a:spcPct val="100000"/>
              </a:lnSpc>
              <a:spcAft>
                <a:spcPts val="0"/>
              </a:spcAft>
            </a:pPr>
            <a:r>
              <a:rPr sz="3000" b="1" i="0">
                <a:solidFill>
                  <a:srgbClr val="FFFFFF"/>
                </a:solidFill>
                <a:latin typeface="Cambria"/>
              </a:rPr>
              <a:t>Conclusão</a:t>
            </a:r>
          </a:p>
        </p:txBody>
      </p:sp>
      <p:sp>
        <p:nvSpPr>
          <p:cNvPr id="3" name="TextBox 2"/>
          <p:cNvSpPr txBox="1"/>
          <p:nvPr/>
        </p:nvSpPr>
        <p:spPr>
          <a:xfrm>
            <a:off x="822960" y="1737360"/>
            <a:ext cx="10515600" cy="4114800"/>
          </a:xfrm>
          <a:prstGeom prst="rect">
            <a:avLst/>
          </a:prstGeom>
          <a:noFill/>
        </p:spPr>
        <p:txBody>
          <a:bodyPr wrap="square" anchor="t" lIns="0" rIns="0" tIns="0" bIns="0">
            <a:spAutoFit/>
          </a:bodyPr>
          <a:lstStyle/>
          <a:p>
            <a:pPr algn="l">
              <a:lnSpc>
                <a:spcPct val="130000"/>
              </a:lnSpc>
              <a:spcAft>
                <a:spcPts val="0"/>
              </a:spcAft>
            </a:pPr>
            <a:r>
              <a:rPr sz="1700" b="0" i="0">
                <a:solidFill>
                  <a:srgbClr val="FFFFFF"/>
                </a:solidFill>
                <a:latin typeface="Calibri"/>
              </a:rPr>
              <a:t>Process mining revelou um processo de concessão de empréstimos com alta variabilidade (169 variantes) e gargalos concentrados na fase pós-oferta.</a:t>
            </a:r>
          </a:p>
          <a:p>
            <a:pPr algn="l">
              <a:lnSpc>
                <a:spcPct val="130000"/>
              </a:lnSpc>
              <a:spcAft>
                <a:spcPts val="0"/>
              </a:spcAft>
            </a:pPr>
            <a:r>
              <a:rPr sz="1700" b="0" i="0">
                <a:solidFill>
                  <a:srgbClr val="FFFFFF"/>
                </a:solidFill>
                <a:latin typeface="Calibri"/>
              </a:rPr>
              <a:t/>
            </a:r>
          </a:p>
          <a:p>
            <a:pPr algn="l">
              <a:lnSpc>
                <a:spcPct val="130000"/>
              </a:lnSpc>
              <a:spcAft>
                <a:spcPts val="0"/>
              </a:spcAft>
            </a:pPr>
            <a:r>
              <a:rPr sz="1700" b="0" i="0">
                <a:solidFill>
                  <a:srgbClr val="FFFFFF"/>
                </a:solidFill>
                <a:latin typeface="Calibri"/>
              </a:rPr>
              <a:t>A comparação Alpha Miner × Inductive Miner reforçou que fitness alta isolada não garante um modelo útil — precision e simplicity completam o diagnóstico.</a:t>
            </a:r>
          </a:p>
          <a:p>
            <a:pPr algn="l">
              <a:lnSpc>
                <a:spcPct val="130000"/>
              </a:lnSpc>
              <a:spcAft>
                <a:spcPts val="0"/>
              </a:spcAft>
            </a:pPr>
            <a:r>
              <a:rPr sz="1700" b="0" i="0">
                <a:solidFill>
                  <a:srgbClr val="FFFFFF"/>
                </a:solidFill>
                <a:latin typeface="Calibri"/>
              </a:rPr>
              <a:t/>
            </a:r>
          </a:p>
          <a:p>
            <a:pPr algn="l">
              <a:lnSpc>
                <a:spcPct val="130000"/>
              </a:lnSpc>
              <a:spcAft>
                <a:spcPts val="0"/>
              </a:spcAft>
            </a:pPr>
            <a:r>
              <a:rPr sz="1700" b="0" i="0">
                <a:solidFill>
                  <a:srgbClr val="FFFFFF"/>
                </a:solidFill>
                <a:latin typeface="Calibri"/>
              </a:rPr>
              <a:t>A adaptação metodológica (log sintético + algoritmos próprios), documentada com transparência, preservou o rigor científico exigido mesmo sob restrição de ambiente.</a:t>
            </a:r>
          </a:p>
        </p:txBody>
      </p:sp>
      <p:sp>
        <p:nvSpPr>
          <p:cNvPr id="4" name="TextBox 3"/>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~0,5 min</a:t>
            </a:r>
          </a:p>
        </p:txBody>
      </p:sp>
      <p:sp>
        <p:nvSpPr>
          <p:cNvPr id="5" name="TextBox 4"/>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173D"/>
        </a:solidFill>
        <a:effectLst/>
      </p:bgPr>
    </p:bg>
    <p:spTree>
      <p:nvGrpSpPr>
        <p:cNvPr id="1" name=""/>
        <p:cNvGrpSpPr/>
        <p:nvPr/>
      </p:nvGrpSpPr>
      <p:grpSpPr/>
      <p:sp>
        <p:nvSpPr>
          <p:cNvPr id="2" name="TextBox 1"/>
          <p:cNvSpPr txBox="1"/>
          <p:nvPr/>
        </p:nvSpPr>
        <p:spPr>
          <a:xfrm>
            <a:off x="1143000" y="2743200"/>
            <a:ext cx="9875520" cy="1097280"/>
          </a:xfrm>
          <a:prstGeom prst="rect">
            <a:avLst/>
          </a:prstGeom>
          <a:noFill/>
        </p:spPr>
        <p:txBody>
          <a:bodyPr wrap="square" anchor="t" lIns="0" rIns="0" tIns="0" bIns="0">
            <a:spAutoFit/>
          </a:bodyPr>
          <a:lstStyle/>
          <a:p>
            <a:pPr algn="l">
              <a:lnSpc>
                <a:spcPct val="100000"/>
              </a:lnSpc>
              <a:spcAft>
                <a:spcPts val="0"/>
              </a:spcAft>
            </a:pPr>
            <a:r>
              <a:rPr sz="4800" b="1" i="0">
                <a:solidFill>
                  <a:srgbClr val="FFFFFF"/>
                </a:solidFill>
                <a:latin typeface="Cambria"/>
              </a:rPr>
              <a:t>Perguntas?</a:t>
            </a:r>
          </a:p>
        </p:txBody>
      </p:sp>
      <p:sp>
        <p:nvSpPr>
          <p:cNvPr id="3" name="TextBox 2"/>
          <p:cNvSpPr txBox="1"/>
          <p:nvPr/>
        </p:nvSpPr>
        <p:spPr>
          <a:xfrm>
            <a:off x="1143000" y="3794760"/>
            <a:ext cx="9692640" cy="457200"/>
          </a:xfrm>
          <a:prstGeom prst="rect">
            <a:avLst/>
          </a:prstGeom>
          <a:noFill/>
        </p:spPr>
        <p:txBody>
          <a:bodyPr wrap="square" anchor="t" lIns="0" rIns="0" tIns="0" bIns="0">
            <a:spAutoFit/>
          </a:bodyPr>
          <a:lstStyle/>
          <a:p>
            <a:pPr algn="l">
              <a:lnSpc>
                <a:spcPct val="100000"/>
              </a:lnSpc>
              <a:spcAft>
                <a:spcPts val="0"/>
              </a:spcAft>
            </a:pPr>
            <a:r>
              <a:rPr sz="1600" b="0" i="0">
                <a:solidFill>
                  <a:srgbClr val="CADCFC"/>
                </a:solidFill>
                <a:latin typeface="Calibri"/>
              </a:rPr>
              <a:t>Grupo G5 — Michelangelo · João Marcos · André · Daniel</a:t>
            </a:r>
          </a:p>
        </p:txBody>
      </p:sp>
      <p:sp>
        <p:nvSpPr>
          <p:cNvPr id="4" name="TextBox 3"/>
          <p:cNvSpPr txBox="1"/>
          <p:nvPr/>
        </p:nvSpPr>
        <p:spPr>
          <a:xfrm>
            <a:off x="1143000" y="4206240"/>
            <a:ext cx="9692640" cy="457200"/>
          </a:xfrm>
          <a:prstGeom prst="rect">
            <a:avLst/>
          </a:prstGeom>
          <a:noFill/>
        </p:spPr>
        <p:txBody>
          <a:bodyPr wrap="square" anchor="t" lIns="0" rIns="0" tIns="0" bIns="0">
            <a:spAutoFit/>
          </a:bodyPr>
          <a:lstStyle/>
          <a:p>
            <a:pPr algn="l">
              <a:lnSpc>
                <a:spcPct val="100000"/>
              </a:lnSpc>
              <a:spcAft>
                <a:spcPts val="0"/>
              </a:spcAft>
            </a:pPr>
            <a:r>
              <a:rPr sz="1300" b="0" i="0">
                <a:solidFill>
                  <a:srgbClr val="5A5F6E"/>
                </a:solidFill>
                <a:latin typeface="Calibri"/>
              </a:rPr>
              <a:t>Process Mining — Tema 4 — Mineração de Dados</a:t>
            </a:r>
          </a:p>
        </p:txBody>
      </p:sp>
      <p:sp>
        <p:nvSpPr>
          <p:cNvPr id="5" name="TextBox 4"/>
          <p:cNvSpPr txBox="1"/>
          <p:nvPr/>
        </p:nvSpPr>
        <p:spPr>
          <a:xfrm>
            <a:off x="10698480" y="6446520"/>
            <a:ext cx="1280160" cy="320040"/>
          </a:xfrm>
          <a:prstGeom prst="rect">
            <a:avLst/>
          </a:prstGeom>
          <a:noFill/>
        </p:spPr>
        <p:txBody>
          <a:bodyPr wrap="square" anchor="t" lIns="0" rIns="0" tIns="0" bIns="0">
            <a:spAutoFit/>
          </a:bodyPr>
          <a:lstStyle/>
          <a:p>
            <a:pPr algn="r">
              <a:lnSpc>
                <a:spcPct val="100000"/>
              </a:lnSpc>
              <a:spcAft>
                <a:spcPts val="0"/>
              </a:spcAft>
            </a:pPr>
            <a:r>
              <a:rPr sz="1100" b="0" i="1">
                <a:solidFill>
                  <a:srgbClr val="5A5F6E"/>
                </a:solidFill>
                <a:latin typeface="Calibri"/>
              </a:rPr>
              <a:t>~5 min (Q&amp;A)</a:t>
            </a:r>
          </a:p>
        </p:txBody>
      </p:sp>
      <p:sp>
        <p:nvSpPr>
          <p:cNvPr id="6" name="TextBox 5"/>
          <p:cNvSpPr txBox="1"/>
          <p:nvPr/>
        </p:nvSpPr>
        <p:spPr>
          <a:xfrm>
            <a:off x="502920" y="6446520"/>
            <a:ext cx="914400" cy="320040"/>
          </a:xfrm>
          <a:prstGeom prst="rect">
            <a:avLst/>
          </a:prstGeom>
          <a:noFill/>
        </p:spPr>
        <p:txBody>
          <a:bodyPr wrap="square" anchor="t" lIns="0" rIns="0" tIns="0" bIns="0">
            <a:spAutoFit/>
          </a:bodyPr>
          <a:lstStyle/>
          <a:p>
            <a:pPr algn="l">
              <a:lnSpc>
                <a:spcPct val="100000"/>
              </a:lnSpc>
              <a:spcAft>
                <a:spcPts val="0"/>
              </a:spcAft>
            </a:pPr>
            <a:r>
              <a:rPr sz="1100" b="0" i="0">
                <a:solidFill>
                  <a:srgbClr val="5A5F6E"/>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