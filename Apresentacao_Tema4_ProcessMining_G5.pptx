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</p:sldIdLst>
  <p:sldSz cx="121932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2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Relationship Id="rId3" Type="http://schemas.openxmlformats.org/officeDocument/2006/relationships/image" Target="../media/image4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png"/><Relationship Id="rId3" Type="http://schemas.openxmlformats.org/officeDocument/2006/relationships/image" Target="../media/image6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7.pn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8.png"/><Relationship Id="rId3" Type="http://schemas.openxmlformats.org/officeDocument/2006/relationships/image" Target="../media/image9.png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0.png"/><Relationship Id="rId3" Type="http://schemas.openxmlformats.org/officeDocument/2006/relationships/image" Target="../media/image11.png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3200" cy="6858000"/>
          </a:xfrm>
          <a:prstGeom prst="rect">
            <a:avLst/>
          </a:prstGeom>
          <a:solidFill>
            <a:srgbClr val="1E496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16000" cy="6858000"/>
          </a:xfrm>
          <a:prstGeom prst="rect">
            <a:avLst/>
          </a:prstGeom>
          <a:solidFill>
            <a:srgbClr val="52B69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5580000"/>
            <a:ext cx="12193200" cy="1278000"/>
          </a:xfrm>
          <a:prstGeom prst="rect">
            <a:avLst/>
          </a:prstGeom>
          <a:solidFill>
            <a:srgbClr val="122D4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32000" y="216000"/>
            <a:ext cx="11160000" cy="39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52B69A"/>
                </a:solidFill>
              </a:rPr>
              <a:t>UNIVERSIDADE FEDERAL DO SUL E SUDESTE DO PARÁ — UNIFESSPA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32000" y="540000"/>
            <a:ext cx="11160000" cy="324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09B8CC"/>
                </a:solidFill>
              </a:rPr>
              <a:t>Disciplina: Mineração de Dados  |  Prof. Adam D. F. dos Santos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32000" y="1152000"/>
            <a:ext cx="11160000" cy="503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1">
                <a:solidFill>
                  <a:srgbClr val="52B69A"/>
                </a:solidFill>
              </a:rPr>
              <a:t>TEMA 4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32000" y="1548000"/>
            <a:ext cx="11160000" cy="79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4000" b="1" i="0">
                <a:solidFill>
                  <a:srgbClr val="FFFFFF"/>
                </a:solidFill>
              </a:rPr>
              <a:t>Process Mining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32000" y="2448000"/>
            <a:ext cx="11160000" cy="64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0" i="0">
                <a:solidFill>
                  <a:srgbClr val="B0D0E8"/>
                </a:solidFill>
              </a:rPr>
              <a:t>Descoberta de Processos e Conformance Checking
Aplicados ao BPI Challenge 2017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32000" y="3420000"/>
            <a:ext cx="7200000" cy="36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FFFFFF"/>
                </a:solidFill>
              </a:rPr>
              <a:t>Grupo G5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32000" y="3708000"/>
            <a:ext cx="11160000" cy="324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B0D0E8"/>
                </a:solidFill>
              </a:rPr>
              <a:t>Michelangelo  ·  João Marcos  ·  André  ·  Daniel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32000" y="5796000"/>
            <a:ext cx="7200000" cy="324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888899"/>
                </a:solidFill>
              </a:rPr>
              <a:t>Marabá — PA, junho de 2026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1520000" y="5796000"/>
            <a:ext cx="540000" cy="324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200" b="0" i="0">
                <a:solidFill>
                  <a:srgbClr val="888899"/>
                </a:solidFill>
              </a:rPr>
              <a:t>1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3200" cy="6858000"/>
          </a:xfrm>
          <a:prstGeom prst="rect">
            <a:avLst/>
          </a:prstGeom>
          <a:solidFill>
            <a:srgbClr val="F0F4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3200" cy="1152000"/>
          </a:xfrm>
          <a:prstGeom prst="rect">
            <a:avLst/>
          </a:prstGeom>
          <a:solidFill>
            <a:srgbClr val="1E496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288000" y="108000"/>
            <a:ext cx="10080000" cy="54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 i="0">
                <a:solidFill>
                  <a:srgbClr val="FFFFFF"/>
                </a:solidFill>
              </a:rPr>
              <a:t>Sumário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88000" y="630000"/>
            <a:ext cx="7920000" cy="36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B0D0E8"/>
                </a:solidFill>
              </a:rPr>
              <a:t>Tópicos abordados na apresentação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1152000"/>
            <a:ext cx="12193200" cy="43200"/>
          </a:xfrm>
          <a:prstGeom prst="rect">
            <a:avLst/>
          </a:prstGeom>
          <a:solidFill>
            <a:srgbClr val="52B69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80000" y="6552000"/>
            <a:ext cx="9360000" cy="251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1">
                <a:solidFill>
                  <a:srgbClr val="888899"/>
                </a:solidFill>
              </a:rPr>
              <a:t>Process Mining — Tema 4 | Grupo G5 — UNIFESSPA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520000" y="6552000"/>
            <a:ext cx="540000" cy="251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0" i="0">
                <a:solidFill>
                  <a:srgbClr val="888899"/>
                </a:solidFill>
              </a:rPr>
              <a:t>2</a:t>
            </a:r>
          </a:p>
        </p:txBody>
      </p:sp>
      <p:sp>
        <p:nvSpPr>
          <p:cNvPr id="9" name="Rectangle 8"/>
          <p:cNvSpPr/>
          <p:nvPr/>
        </p:nvSpPr>
        <p:spPr>
          <a:xfrm>
            <a:off x="360000" y="1260000"/>
            <a:ext cx="125999" cy="540000"/>
          </a:xfrm>
          <a:prstGeom prst="rect">
            <a:avLst/>
          </a:prstGeom>
          <a:solidFill>
            <a:srgbClr val="1E496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576000" y="1278000"/>
            <a:ext cx="7200000" cy="28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1E4965"/>
                </a:solidFill>
              </a:rPr>
              <a:t>1. Introdução ao Process Mining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76000" y="1530000"/>
            <a:ext cx="10800000" cy="251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888899"/>
                </a:solidFill>
              </a:rPr>
              <a:t>Contexto, conceitos fundamentais e motivação</a:t>
            </a:r>
          </a:p>
        </p:txBody>
      </p:sp>
      <p:sp>
        <p:nvSpPr>
          <p:cNvPr id="12" name="Rectangle 11"/>
          <p:cNvSpPr/>
          <p:nvPr/>
        </p:nvSpPr>
        <p:spPr>
          <a:xfrm>
            <a:off x="360000" y="1925999"/>
            <a:ext cx="125999" cy="540000"/>
          </a:xfrm>
          <a:prstGeom prst="rect">
            <a:avLst/>
          </a:prstGeom>
          <a:solidFill>
            <a:srgbClr val="1E496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576000" y="1943999"/>
            <a:ext cx="7200000" cy="28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1E4965"/>
                </a:solidFill>
              </a:rPr>
              <a:t>2. Dataset: BPI Challenge 2017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76000" y="2196000"/>
            <a:ext cx="10800000" cy="251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888899"/>
                </a:solidFill>
              </a:rPr>
              <a:t>Processo de concessão de empréstimos e adaptação metodológica</a:t>
            </a:r>
          </a:p>
        </p:txBody>
      </p:sp>
      <p:sp>
        <p:nvSpPr>
          <p:cNvPr id="15" name="Rectangle 14"/>
          <p:cNvSpPr/>
          <p:nvPr/>
        </p:nvSpPr>
        <p:spPr>
          <a:xfrm>
            <a:off x="360000" y="2592000"/>
            <a:ext cx="125999" cy="540000"/>
          </a:xfrm>
          <a:prstGeom prst="rect">
            <a:avLst/>
          </a:prstGeom>
          <a:solidFill>
            <a:srgbClr val="1E496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576000" y="2610000"/>
            <a:ext cx="7200000" cy="28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1E4965"/>
                </a:solidFill>
              </a:rPr>
              <a:t>3. Metodologia e Implementação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76000" y="2862000"/>
            <a:ext cx="10800000" cy="251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888899"/>
                </a:solidFill>
              </a:rPr>
              <a:t>Pipeline de 7 etapas — pm_toolkit.py</a:t>
            </a:r>
          </a:p>
        </p:txBody>
      </p:sp>
      <p:sp>
        <p:nvSpPr>
          <p:cNvPr id="18" name="Rectangle 17"/>
          <p:cNvSpPr/>
          <p:nvPr/>
        </p:nvSpPr>
        <p:spPr>
          <a:xfrm>
            <a:off x="360000" y="3258000"/>
            <a:ext cx="125999" cy="540000"/>
          </a:xfrm>
          <a:prstGeom prst="rect">
            <a:avLst/>
          </a:prstGeom>
          <a:solidFill>
            <a:srgbClr val="2A6F9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576000" y="3276000"/>
            <a:ext cx="7200000" cy="28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2A6F97"/>
                </a:solidFill>
              </a:rPr>
              <a:t>4. Análise Exploratória (EDA)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76000" y="3528000"/>
            <a:ext cx="10800000" cy="251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888899"/>
                </a:solidFill>
              </a:rPr>
              <a:t>Frequência, duração dos casos e variantes</a:t>
            </a:r>
          </a:p>
        </p:txBody>
      </p:sp>
      <p:sp>
        <p:nvSpPr>
          <p:cNvPr id="21" name="Rectangle 20"/>
          <p:cNvSpPr/>
          <p:nvPr/>
        </p:nvSpPr>
        <p:spPr>
          <a:xfrm>
            <a:off x="360000" y="3924000"/>
            <a:ext cx="125999" cy="540000"/>
          </a:xfrm>
          <a:prstGeom prst="rect">
            <a:avLst/>
          </a:prstGeom>
          <a:solidFill>
            <a:srgbClr val="2A6F9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576000" y="3942000"/>
            <a:ext cx="7200000" cy="28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2A6F97"/>
                </a:solidFill>
              </a:rPr>
              <a:t>5. Process Discovery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576000" y="4194000"/>
            <a:ext cx="10800000" cy="251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888899"/>
                </a:solidFill>
              </a:rPr>
              <a:t>DFG, Alpha Miner e Inductive Miner</a:t>
            </a:r>
          </a:p>
        </p:txBody>
      </p:sp>
      <p:sp>
        <p:nvSpPr>
          <p:cNvPr id="24" name="Rectangle 23"/>
          <p:cNvSpPr/>
          <p:nvPr/>
        </p:nvSpPr>
        <p:spPr>
          <a:xfrm>
            <a:off x="360000" y="4590000"/>
            <a:ext cx="125999" cy="540000"/>
          </a:xfrm>
          <a:prstGeom prst="rect">
            <a:avLst/>
          </a:prstGeom>
          <a:solidFill>
            <a:srgbClr val="52B69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576000" y="4608000"/>
            <a:ext cx="7200000" cy="28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52B69A"/>
                </a:solidFill>
              </a:rPr>
              <a:t>6. Conformance Checking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576000" y="4860000"/>
            <a:ext cx="10800000" cy="251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888899"/>
                </a:solidFill>
              </a:rPr>
              <a:t>Fitness, Precision, Generalization, Simplicity e desvios</a:t>
            </a:r>
          </a:p>
        </p:txBody>
      </p:sp>
      <p:sp>
        <p:nvSpPr>
          <p:cNvPr id="27" name="Rectangle 26"/>
          <p:cNvSpPr/>
          <p:nvPr/>
        </p:nvSpPr>
        <p:spPr>
          <a:xfrm>
            <a:off x="360000" y="5256000"/>
            <a:ext cx="125999" cy="540000"/>
          </a:xfrm>
          <a:prstGeom prst="rect">
            <a:avLst/>
          </a:prstGeom>
          <a:solidFill>
            <a:srgbClr val="F372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576000" y="5274000"/>
            <a:ext cx="7200000" cy="28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F3722C"/>
                </a:solidFill>
              </a:rPr>
              <a:t>7. Performance Analysis e Gargalos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576000" y="5526000"/>
            <a:ext cx="10800000" cy="251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888899"/>
                </a:solidFill>
              </a:rPr>
              <a:t>Tempo de espera e identificação de bottlenecks</a:t>
            </a:r>
          </a:p>
        </p:txBody>
      </p:sp>
      <p:sp>
        <p:nvSpPr>
          <p:cNvPr id="30" name="Rectangle 29"/>
          <p:cNvSpPr/>
          <p:nvPr/>
        </p:nvSpPr>
        <p:spPr>
          <a:xfrm>
            <a:off x="360000" y="5922000"/>
            <a:ext cx="125999" cy="540000"/>
          </a:xfrm>
          <a:prstGeom prst="rect">
            <a:avLst/>
          </a:prstGeom>
          <a:solidFill>
            <a:srgbClr val="F372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576000" y="5940000"/>
            <a:ext cx="7200000" cy="28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F3722C"/>
                </a:solidFill>
              </a:rPr>
              <a:t>8. Síntese, Limitações e Conclusão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576000" y="6192000"/>
            <a:ext cx="10800000" cy="251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888899"/>
                </a:solidFill>
              </a:rPr>
              <a:t>Insights gerenciais e trabalhos futuros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3200" cy="6858000"/>
          </a:xfrm>
          <a:prstGeom prst="rect">
            <a:avLst/>
          </a:prstGeom>
          <a:solidFill>
            <a:srgbClr val="F0F4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3200" cy="1152000"/>
          </a:xfrm>
          <a:prstGeom prst="rect">
            <a:avLst/>
          </a:prstGeom>
          <a:solidFill>
            <a:srgbClr val="1E496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288000" y="108000"/>
            <a:ext cx="10080000" cy="54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 i="0">
                <a:solidFill>
                  <a:srgbClr val="FFFFFF"/>
                </a:solidFill>
              </a:rPr>
              <a:t>O que é Process Mining?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88000" y="630000"/>
            <a:ext cx="7920000" cy="36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B0D0E8"/>
                </a:solidFill>
              </a:rPr>
              <a:t>Extraindo conhecimento real de processos a partir de dados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1152000"/>
            <a:ext cx="12193200" cy="43200"/>
          </a:xfrm>
          <a:prstGeom prst="rect">
            <a:avLst/>
          </a:prstGeom>
          <a:solidFill>
            <a:srgbClr val="52B69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80000" y="6552000"/>
            <a:ext cx="9360000" cy="251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1">
                <a:solidFill>
                  <a:srgbClr val="888899"/>
                </a:solidFill>
              </a:rPr>
              <a:t>Process Mining — Tema 4 | Grupo G5 — UNIFESSPA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520000" y="6552000"/>
            <a:ext cx="540000" cy="251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0" i="0">
                <a:solidFill>
                  <a:srgbClr val="888899"/>
                </a:solidFill>
              </a:rPr>
              <a:t>3</a:t>
            </a:r>
          </a:p>
        </p:txBody>
      </p:sp>
      <p:sp>
        <p:nvSpPr>
          <p:cNvPr id="9" name="Rectangle 8"/>
          <p:cNvSpPr/>
          <p:nvPr/>
        </p:nvSpPr>
        <p:spPr>
          <a:xfrm>
            <a:off x="360000" y="1260000"/>
            <a:ext cx="11340000" cy="792000"/>
          </a:xfrm>
          <a:prstGeom prst="rect">
            <a:avLst/>
          </a:prstGeom>
          <a:solidFill>
            <a:srgbClr val="1E496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68000" y="1296000"/>
            <a:ext cx="11160000" cy="36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FFFFFF"/>
                </a:solidFill>
              </a:rPr>
              <a:t>Ideia central: cada vez que alguém executa uma tarefa no sistema, fica registrado — quem fez, o quê e quando.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68000" y="1565999"/>
            <a:ext cx="11160000" cy="36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B0D0E8"/>
                </a:solidFill>
              </a:rPr>
              <a:t>Process Mining analisa esses registros para revelar como o processo realmente acontece, não como foi planejado.</a:t>
            </a:r>
          </a:p>
        </p:txBody>
      </p:sp>
      <p:sp>
        <p:nvSpPr>
          <p:cNvPr id="12" name="Rectangle 11"/>
          <p:cNvSpPr/>
          <p:nvPr/>
        </p:nvSpPr>
        <p:spPr>
          <a:xfrm>
            <a:off x="360000" y="2232000"/>
            <a:ext cx="5472000" cy="2160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68000" y="2304000"/>
            <a:ext cx="5220000" cy="2015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500" b="1">
                <a:solidFill>
                  <a:srgbClr val="1E4965"/>
                </a:solidFill>
              </a:rPr>
              <a:t>O Problema</a:t>
            </a:r>
          </a:p>
          <a:p>
            <a:pPr>
              <a:spcBef>
                <a:spcPts val="400"/>
              </a:spcBef>
            </a:pPr>
            <a:r>
              <a:rPr sz="1300">
                <a:solidFill>
                  <a:srgbClr val="222233"/>
                </a:solidFill>
              </a:rPr>
              <a:t>  Empresas desenham processos ideais no papel</a:t>
            </a:r>
          </a:p>
          <a:p>
            <a:pPr>
              <a:spcBef>
                <a:spcPts val="400"/>
              </a:spcBef>
            </a:pPr>
            <a:r>
              <a:rPr sz="1300">
                <a:solidFill>
                  <a:srgbClr val="222233"/>
                </a:solidFill>
              </a:rPr>
              <a:t>  Na prática, os funcionários seguem caminhos diferentes</a:t>
            </a:r>
          </a:p>
          <a:p>
            <a:pPr>
              <a:spcBef>
                <a:spcPts val="400"/>
              </a:spcBef>
            </a:pPr>
            <a:r>
              <a:rPr sz="1300">
                <a:solidFill>
                  <a:srgbClr val="222233"/>
                </a:solidFill>
              </a:rPr>
              <a:t>  Ninguém percebe — até aparecer um gargalo ou erro</a:t>
            </a:r>
          </a:p>
          <a:p>
            <a:pPr>
              <a:spcBef>
                <a:spcPts val="400"/>
              </a:spcBef>
            </a:pPr>
            <a:r>
              <a:rPr sz="1300">
                <a:solidFill>
                  <a:srgbClr val="222233"/>
                </a:solidFill>
              </a:rPr>
              <a:t>  </a:t>
            </a:r>
          </a:p>
          <a:p>
            <a:pPr>
              <a:spcBef>
                <a:spcPts val="400"/>
              </a:spcBef>
            </a:pPr>
            <a:r>
              <a:rPr sz="1300">
                <a:solidFill>
                  <a:srgbClr val="222233"/>
                </a:solidFill>
              </a:rPr>
              <a:t>  Process Mining usa os logs do sistema para mostrar</a:t>
            </a:r>
          </a:p>
          <a:p>
            <a:pPr>
              <a:spcBef>
                <a:spcPts val="400"/>
              </a:spcBef>
            </a:pPr>
            <a:r>
              <a:rPr sz="1300">
                <a:solidFill>
                  <a:srgbClr val="222233"/>
                </a:solidFill>
              </a:rPr>
              <a:t>  o processo real, com todos os desvios e atrasos</a:t>
            </a:r>
          </a:p>
        </p:txBody>
      </p:sp>
      <p:sp>
        <p:nvSpPr>
          <p:cNvPr id="14" name="Rectangle 13"/>
          <p:cNvSpPr/>
          <p:nvPr/>
        </p:nvSpPr>
        <p:spPr>
          <a:xfrm>
            <a:off x="6300000" y="2232000"/>
            <a:ext cx="5472000" cy="2160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408000" y="2304000"/>
            <a:ext cx="5220000" cy="2015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500" b="1">
                <a:solidFill>
                  <a:srgbClr val="52B69A"/>
                </a:solidFill>
              </a:rPr>
              <a:t>3 Subtarefas Centrais</a:t>
            </a:r>
          </a:p>
          <a:p>
            <a:pPr>
              <a:spcBef>
                <a:spcPts val="400"/>
              </a:spcBef>
            </a:pPr>
            <a:r>
              <a:rPr sz="1300">
                <a:solidFill>
                  <a:srgbClr val="222233"/>
                </a:solidFill>
              </a:rPr>
              <a:t>  Process Discovery</a:t>
            </a:r>
          </a:p>
          <a:p>
            <a:pPr>
              <a:spcBef>
                <a:spcPts val="400"/>
              </a:spcBef>
            </a:pPr>
            <a:r>
              <a:rPr sz="1300">
                <a:solidFill>
                  <a:srgbClr val="222233"/>
                </a:solidFill>
              </a:rPr>
              <a:t>  Descobrir o modelo real a partir do log</a:t>
            </a:r>
          </a:p>
          <a:p>
            <a:pPr>
              <a:spcBef>
                <a:spcPts val="400"/>
              </a:spcBef>
            </a:pPr>
            <a:r>
              <a:rPr sz="1300">
                <a:solidFill>
                  <a:srgbClr val="222233"/>
                </a:solidFill>
              </a:rPr>
              <a:t>  Conformance Checking</a:t>
            </a:r>
          </a:p>
          <a:p>
            <a:pPr>
              <a:spcBef>
                <a:spcPts val="400"/>
              </a:spcBef>
            </a:pPr>
            <a:r>
              <a:rPr sz="1300">
                <a:solidFill>
                  <a:srgbClr val="222233"/>
                </a:solidFill>
              </a:rPr>
              <a:t>  Comparar o modelo real com o planejado</a:t>
            </a:r>
          </a:p>
          <a:p>
            <a:pPr>
              <a:spcBef>
                <a:spcPts val="400"/>
              </a:spcBef>
            </a:pPr>
            <a:r>
              <a:rPr sz="1300">
                <a:solidFill>
                  <a:srgbClr val="222233"/>
                </a:solidFill>
              </a:rPr>
              <a:t>  Performance Analysis</a:t>
            </a:r>
          </a:p>
          <a:p>
            <a:pPr>
              <a:spcBef>
                <a:spcPts val="400"/>
              </a:spcBef>
            </a:pPr>
            <a:r>
              <a:rPr sz="1300">
                <a:solidFill>
                  <a:srgbClr val="222233"/>
                </a:solidFill>
              </a:rPr>
              <a:t>  Medir tempos e identificar gargalos</a:t>
            </a:r>
          </a:p>
        </p:txBody>
      </p:sp>
      <p:sp>
        <p:nvSpPr>
          <p:cNvPr id="16" name="Rectangle 15"/>
          <p:cNvSpPr/>
          <p:nvPr/>
        </p:nvSpPr>
        <p:spPr>
          <a:xfrm>
            <a:off x="360000" y="4680000"/>
            <a:ext cx="3528000" cy="1007999"/>
          </a:xfrm>
          <a:prstGeom prst="rect">
            <a:avLst/>
          </a:prstGeom>
          <a:solidFill>
            <a:srgbClr val="1E496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468000" y="4788000"/>
            <a:ext cx="3311999" cy="72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FFFFFF"/>
                </a:solidFill>
              </a:rPr>
              <a:t>Event Log
(dados brutos)</a:t>
            </a:r>
          </a:p>
        </p:txBody>
      </p:sp>
      <p:sp>
        <p:nvSpPr>
          <p:cNvPr id="18" name="Rectangle 17"/>
          <p:cNvSpPr/>
          <p:nvPr/>
        </p:nvSpPr>
        <p:spPr>
          <a:xfrm>
            <a:off x="4248000" y="4680000"/>
            <a:ext cx="3528000" cy="1007999"/>
          </a:xfrm>
          <a:prstGeom prst="rect">
            <a:avLst/>
          </a:prstGeom>
          <a:solidFill>
            <a:srgbClr val="2A6F9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4356000" y="4788000"/>
            <a:ext cx="3311999" cy="72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FFFFFF"/>
                </a:solidFill>
              </a:rPr>
              <a:t>Algoritmos
de PM</a:t>
            </a:r>
          </a:p>
        </p:txBody>
      </p:sp>
      <p:sp>
        <p:nvSpPr>
          <p:cNvPr id="20" name="Rectangle 19"/>
          <p:cNvSpPr/>
          <p:nvPr/>
        </p:nvSpPr>
        <p:spPr>
          <a:xfrm>
            <a:off x="8136000" y="4680000"/>
            <a:ext cx="3528000" cy="1007999"/>
          </a:xfrm>
          <a:prstGeom prst="rect">
            <a:avLst/>
          </a:prstGeom>
          <a:solidFill>
            <a:srgbClr val="52B69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8244000" y="4788000"/>
            <a:ext cx="3311999" cy="72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FFFFFF"/>
                </a:solidFill>
              </a:rPr>
              <a:t>Modelo do
Processo Real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3960000" y="4968000"/>
            <a:ext cx="540000" cy="43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1" i="0">
                <a:solidFill>
                  <a:srgbClr val="2A6F97"/>
                </a:solidFill>
              </a:rPr>
              <a:t>→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848000" y="4968000"/>
            <a:ext cx="540000" cy="43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1" i="0">
                <a:solidFill>
                  <a:srgbClr val="52B69A"/>
                </a:solidFill>
              </a:rPr>
              <a:t>→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3200" cy="6858000"/>
          </a:xfrm>
          <a:prstGeom prst="rect">
            <a:avLst/>
          </a:prstGeom>
          <a:solidFill>
            <a:srgbClr val="F0F4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3200" cy="1152000"/>
          </a:xfrm>
          <a:prstGeom prst="rect">
            <a:avLst/>
          </a:prstGeom>
          <a:solidFill>
            <a:srgbClr val="1E496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288000" y="108000"/>
            <a:ext cx="10080000" cy="54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 i="0">
                <a:solidFill>
                  <a:srgbClr val="FFFFFF"/>
                </a:solidFill>
              </a:rPr>
              <a:t>Dataset: BPI Challenge 2017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88000" y="630000"/>
            <a:ext cx="7920000" cy="36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B0D0E8"/>
                </a:solidFill>
              </a:rPr>
              <a:t>Adaptação metodológica por restrição de rede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1152000"/>
            <a:ext cx="12193200" cy="43200"/>
          </a:xfrm>
          <a:prstGeom prst="rect">
            <a:avLst/>
          </a:prstGeom>
          <a:solidFill>
            <a:srgbClr val="52B69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80000" y="6552000"/>
            <a:ext cx="9360000" cy="251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1">
                <a:solidFill>
                  <a:srgbClr val="888899"/>
                </a:solidFill>
              </a:rPr>
              <a:t>Process Mining — Tema 4 | Grupo G5 — UNIFESSPA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520000" y="6552000"/>
            <a:ext cx="540000" cy="251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0" i="0">
                <a:solidFill>
                  <a:srgbClr val="888899"/>
                </a:solidFill>
              </a:rPr>
              <a:t>4</a:t>
            </a:r>
          </a:p>
        </p:txBody>
      </p:sp>
      <p:sp>
        <p:nvSpPr>
          <p:cNvPr id="9" name="Rectangle 8"/>
          <p:cNvSpPr/>
          <p:nvPr/>
        </p:nvSpPr>
        <p:spPr>
          <a:xfrm>
            <a:off x="360000" y="1296000"/>
            <a:ext cx="5220000" cy="2880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68000" y="1368000"/>
            <a:ext cx="4968000" cy="27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500" b="1">
                <a:solidFill>
                  <a:srgbClr val="1E4965"/>
                </a:solidFill>
              </a:rPr>
              <a:t>BPI Challenge 2017 (original)</a:t>
            </a:r>
          </a:p>
          <a:p>
            <a:pPr>
              <a:spcBef>
                <a:spcPts val="400"/>
              </a:spcBef>
            </a:pPr>
            <a:r>
              <a:rPr sz="1300">
                <a:solidFill>
                  <a:srgbClr val="222233"/>
                </a:solidFill>
              </a:rPr>
              <a:t>  Log real de concessão de empréstimos</a:t>
            </a:r>
          </a:p>
          <a:p>
            <a:pPr>
              <a:spcBef>
                <a:spcPts val="400"/>
              </a:spcBef>
            </a:pPr>
            <a:r>
              <a:rPr sz="1300">
                <a:solidFill>
                  <a:srgbClr val="222233"/>
                </a:solidFill>
              </a:rPr>
              <a:t>  Instituição financeira holandesa</a:t>
            </a:r>
          </a:p>
          <a:p>
            <a:pPr>
              <a:spcBef>
                <a:spcPts val="400"/>
              </a:spcBef>
            </a:pPr>
            <a:r>
              <a:rPr sz="1300">
                <a:solidFill>
                  <a:srgbClr val="222233"/>
                </a:solidFill>
              </a:rPr>
              <a:t>  31.509 casos | 1.202.267 eventos</a:t>
            </a:r>
          </a:p>
          <a:p>
            <a:pPr>
              <a:spcBef>
                <a:spcPts val="400"/>
              </a:spcBef>
            </a:pPr>
            <a:r>
              <a:rPr sz="1300">
                <a:solidFill>
                  <a:srgbClr val="222233"/>
                </a:solidFill>
              </a:rPr>
              <a:t>  26 atividades — 3 sub-processos:</a:t>
            </a:r>
          </a:p>
          <a:p>
            <a:pPr>
              <a:spcBef>
                <a:spcPts val="400"/>
              </a:spcBef>
            </a:pPr>
            <a:r>
              <a:rPr sz="1300">
                <a:solidFill>
                  <a:srgbClr val="222233"/>
                </a:solidFill>
              </a:rPr>
              <a:t>  Application / Offer / Workflow</a:t>
            </a:r>
          </a:p>
          <a:p>
            <a:pPr>
              <a:spcBef>
                <a:spcPts val="400"/>
              </a:spcBef>
            </a:pPr>
            <a:r>
              <a:rPr sz="1300">
                <a:solidFill>
                  <a:srgbClr val="222233"/>
                </a:solidFill>
              </a:rPr>
              <a:t>  Dataset padrão acadêmico (4TU ResearchData)</a:t>
            </a:r>
          </a:p>
        </p:txBody>
      </p:sp>
      <p:sp>
        <p:nvSpPr>
          <p:cNvPr id="11" name="Rectangle 10"/>
          <p:cNvSpPr/>
          <p:nvPr/>
        </p:nvSpPr>
        <p:spPr>
          <a:xfrm>
            <a:off x="6120000" y="1296000"/>
            <a:ext cx="5580000" cy="2880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228000" y="1368000"/>
            <a:ext cx="5328000" cy="27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500" b="1">
                <a:solidFill>
                  <a:srgbClr val="F3722C"/>
                </a:solidFill>
              </a:rPr>
              <a:t>Adaptação Adotada</a:t>
            </a:r>
          </a:p>
          <a:p>
            <a:pPr>
              <a:spcBef>
                <a:spcPts val="400"/>
              </a:spcBef>
            </a:pPr>
            <a:r>
              <a:rPr sz="1300">
                <a:solidFill>
                  <a:srgbClr val="222233"/>
                </a:solidFill>
              </a:rPr>
              <a:t>  Sem acesso à internet no ambiente usado</a:t>
            </a:r>
          </a:p>
          <a:p>
            <a:pPr>
              <a:spcBef>
                <a:spcPts val="400"/>
              </a:spcBef>
            </a:pPr>
            <a:r>
              <a:rPr sz="1300">
                <a:solidFill>
                  <a:srgbClr val="222233"/>
                </a:solidFill>
              </a:rPr>
              <a:t>  Impossível instalar PM4Py ou baixar .xes</a:t>
            </a:r>
          </a:p>
          <a:p>
            <a:pPr>
              <a:spcBef>
                <a:spcPts val="400"/>
              </a:spcBef>
            </a:pPr>
            <a:r>
              <a:rPr sz="1300">
                <a:solidFill>
                  <a:srgbClr val="222233"/>
                </a:solidFill>
              </a:rPr>
              <a:t>  Solução: log sintético deterministico (seed=42)</a:t>
            </a:r>
          </a:p>
          <a:p>
            <a:pPr>
              <a:spcBef>
                <a:spcPts val="400"/>
              </a:spcBef>
            </a:pPr>
            <a:r>
              <a:rPr sz="1300">
                <a:solidFill>
                  <a:srgbClr val="222233"/>
                </a:solidFill>
              </a:rPr>
              <a:t>  3.000 casos | 54.597 eventos | 23 atividades</a:t>
            </a:r>
          </a:p>
          <a:p>
            <a:pPr>
              <a:spcBef>
                <a:spcPts val="400"/>
              </a:spcBef>
            </a:pPr>
            <a:r>
              <a:rPr sz="1300">
                <a:solidFill>
                  <a:srgbClr val="222233"/>
                </a:solidFill>
              </a:rPr>
              <a:t>  Preserva: vocabulário, laços, ramificações</a:t>
            </a:r>
          </a:p>
          <a:p>
            <a:pPr>
              <a:spcBef>
                <a:spcPts val="400"/>
              </a:spcBef>
            </a:pPr>
            <a:r>
              <a:rPr sz="1300">
                <a:solidFill>
                  <a:srgbClr val="222233"/>
                </a:solidFill>
              </a:rPr>
              <a:t>  Validade estrutural, não quantitativa absoluta</a:t>
            </a:r>
          </a:p>
        </p:txBody>
      </p:sp>
      <p:sp>
        <p:nvSpPr>
          <p:cNvPr id="13" name="Rectangle 12"/>
          <p:cNvSpPr/>
          <p:nvPr/>
        </p:nvSpPr>
        <p:spPr>
          <a:xfrm>
            <a:off x="360000" y="4392000"/>
            <a:ext cx="11340000" cy="540000"/>
          </a:xfrm>
          <a:prstGeom prst="rect">
            <a:avLst/>
          </a:prstGeom>
          <a:solidFill>
            <a:srgbClr val="FFF0D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468000" y="4446000"/>
            <a:ext cx="11160000" cy="39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1">
                <a:solidFill>
                  <a:srgbClr val="085020"/>
                </a:solidFill>
              </a:rPr>
              <a:t>Todas as limitações desta adaptação são documentadas no relatório (Seção 6 — Limitações).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3200" cy="6858000"/>
          </a:xfrm>
          <a:prstGeom prst="rect">
            <a:avLst/>
          </a:prstGeom>
          <a:solidFill>
            <a:srgbClr val="F0F4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3200" cy="1152000"/>
          </a:xfrm>
          <a:prstGeom prst="rect">
            <a:avLst/>
          </a:prstGeom>
          <a:solidFill>
            <a:srgbClr val="1E496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288000" y="108000"/>
            <a:ext cx="10080000" cy="54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 i="0">
                <a:solidFill>
                  <a:srgbClr val="FFFFFF"/>
                </a:solidFill>
              </a:rPr>
              <a:t>Metodologia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88000" y="630000"/>
            <a:ext cx="7920000" cy="36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B0D0E8"/>
                </a:solidFill>
              </a:rPr>
              <a:t>Pipeline em 7 etapas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1152000"/>
            <a:ext cx="12193200" cy="43200"/>
          </a:xfrm>
          <a:prstGeom prst="rect">
            <a:avLst/>
          </a:prstGeom>
          <a:solidFill>
            <a:srgbClr val="52B69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80000" y="6552000"/>
            <a:ext cx="9360000" cy="251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1">
                <a:solidFill>
                  <a:srgbClr val="888899"/>
                </a:solidFill>
              </a:rPr>
              <a:t>Process Mining — Tema 4 | Grupo G5 — UNIFESSPA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520000" y="6552000"/>
            <a:ext cx="540000" cy="251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0" i="0">
                <a:solidFill>
                  <a:srgbClr val="888899"/>
                </a:solidFill>
              </a:rPr>
              <a:t>5</a:t>
            </a:r>
          </a:p>
        </p:txBody>
      </p:sp>
      <p:sp>
        <p:nvSpPr>
          <p:cNvPr id="9" name="Rectangle 8"/>
          <p:cNvSpPr/>
          <p:nvPr/>
        </p:nvSpPr>
        <p:spPr>
          <a:xfrm>
            <a:off x="360000" y="1296000"/>
            <a:ext cx="1475999" cy="1512000"/>
          </a:xfrm>
          <a:prstGeom prst="rect">
            <a:avLst/>
          </a:prstGeom>
          <a:solidFill>
            <a:srgbClr val="1E496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32000" y="1350000"/>
            <a:ext cx="1260000" cy="43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FFFFFF"/>
                </a:solidFill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32000" y="1835999"/>
            <a:ext cx="1296000" cy="827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FFFFFF"/>
                </a:solidFill>
              </a:rPr>
              <a:t>Geração do log sintético</a:t>
            </a:r>
          </a:p>
        </p:txBody>
      </p:sp>
      <p:sp>
        <p:nvSpPr>
          <p:cNvPr id="12" name="Rectangle 11"/>
          <p:cNvSpPr/>
          <p:nvPr/>
        </p:nvSpPr>
        <p:spPr>
          <a:xfrm>
            <a:off x="2015999" y="1296000"/>
            <a:ext cx="1475999" cy="1512000"/>
          </a:xfrm>
          <a:prstGeom prst="rect">
            <a:avLst/>
          </a:prstGeom>
          <a:solidFill>
            <a:srgbClr val="2A6F9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2088000" y="1350000"/>
            <a:ext cx="1260000" cy="43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FFFFFF"/>
                </a:solidFill>
              </a:rPr>
              <a:t>2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2088000" y="1835999"/>
            <a:ext cx="1296000" cy="827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FFFFFF"/>
                </a:solidFill>
              </a:rPr>
              <a:t>Importação e limpeza</a:t>
            </a:r>
          </a:p>
        </p:txBody>
      </p:sp>
      <p:sp>
        <p:nvSpPr>
          <p:cNvPr id="15" name="Rectangle 14"/>
          <p:cNvSpPr/>
          <p:nvPr/>
        </p:nvSpPr>
        <p:spPr>
          <a:xfrm>
            <a:off x="3671999" y="1296000"/>
            <a:ext cx="1475999" cy="1512000"/>
          </a:xfrm>
          <a:prstGeom prst="rect">
            <a:avLst/>
          </a:prstGeom>
          <a:solidFill>
            <a:srgbClr val="52B69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3743999" y="1350000"/>
            <a:ext cx="1260000" cy="43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FFFFFF"/>
                </a:solidFill>
              </a:rPr>
              <a:t>3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743999" y="1835999"/>
            <a:ext cx="1296000" cy="827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FFFFFF"/>
                </a:solidFill>
              </a:rPr>
              <a:t>Análise Exploratória (EDA)</a:t>
            </a:r>
          </a:p>
        </p:txBody>
      </p:sp>
      <p:sp>
        <p:nvSpPr>
          <p:cNvPr id="18" name="Rectangle 17"/>
          <p:cNvSpPr/>
          <p:nvPr/>
        </p:nvSpPr>
        <p:spPr>
          <a:xfrm>
            <a:off x="5328000" y="1296000"/>
            <a:ext cx="1475999" cy="1512000"/>
          </a:xfrm>
          <a:prstGeom prst="rect">
            <a:avLst/>
          </a:prstGeom>
          <a:solidFill>
            <a:srgbClr val="1E496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5400000" y="1350000"/>
            <a:ext cx="1260000" cy="43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FFFFFF"/>
                </a:solidFill>
              </a:rPr>
              <a:t>4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400000" y="1835999"/>
            <a:ext cx="1296000" cy="827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FFFFFF"/>
                </a:solidFill>
              </a:rPr>
              <a:t>Process Discovery</a:t>
            </a:r>
          </a:p>
        </p:txBody>
      </p:sp>
      <p:sp>
        <p:nvSpPr>
          <p:cNvPr id="21" name="Rectangle 20"/>
          <p:cNvSpPr/>
          <p:nvPr/>
        </p:nvSpPr>
        <p:spPr>
          <a:xfrm>
            <a:off x="6983999" y="1296000"/>
            <a:ext cx="1475999" cy="1512000"/>
          </a:xfrm>
          <a:prstGeom prst="rect">
            <a:avLst/>
          </a:prstGeom>
          <a:solidFill>
            <a:srgbClr val="2A6F9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7055999" y="1350000"/>
            <a:ext cx="1260000" cy="43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FFFFFF"/>
                </a:solidFill>
              </a:rPr>
              <a:t>5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055999" y="1835999"/>
            <a:ext cx="1296000" cy="827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FFFFFF"/>
                </a:solidFill>
              </a:rPr>
              <a:t>Conformance Checking</a:t>
            </a:r>
          </a:p>
        </p:txBody>
      </p:sp>
      <p:sp>
        <p:nvSpPr>
          <p:cNvPr id="24" name="Rectangle 23"/>
          <p:cNvSpPr/>
          <p:nvPr/>
        </p:nvSpPr>
        <p:spPr>
          <a:xfrm>
            <a:off x="8640000" y="1296000"/>
            <a:ext cx="1475999" cy="1512000"/>
          </a:xfrm>
          <a:prstGeom prst="rect">
            <a:avLst/>
          </a:prstGeom>
          <a:solidFill>
            <a:srgbClr val="52B69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8712000" y="1350000"/>
            <a:ext cx="1260000" cy="43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FFFFFF"/>
                </a:solidFill>
              </a:rPr>
              <a:t>6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8712000" y="1835999"/>
            <a:ext cx="1296000" cy="827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FFFFFF"/>
                </a:solidFill>
              </a:rPr>
              <a:t>Performance e Gargalos</a:t>
            </a:r>
          </a:p>
        </p:txBody>
      </p:sp>
      <p:sp>
        <p:nvSpPr>
          <p:cNvPr id="27" name="Rectangle 26"/>
          <p:cNvSpPr/>
          <p:nvPr/>
        </p:nvSpPr>
        <p:spPr>
          <a:xfrm>
            <a:off x="10296000" y="1296000"/>
            <a:ext cx="1475999" cy="1512000"/>
          </a:xfrm>
          <a:prstGeom prst="rect">
            <a:avLst/>
          </a:prstGeom>
          <a:solidFill>
            <a:srgbClr val="F372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10368000" y="1350000"/>
            <a:ext cx="1260000" cy="43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FFFFFF"/>
                </a:solidFill>
              </a:rPr>
              <a:t>7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0368000" y="1835999"/>
            <a:ext cx="1296000" cy="827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FFFFFF"/>
                </a:solidFill>
              </a:rPr>
              <a:t>Síntese e Interpretação</a:t>
            </a:r>
          </a:p>
        </p:txBody>
      </p:sp>
      <p:sp>
        <p:nvSpPr>
          <p:cNvPr id="30" name="Rectangle 29"/>
          <p:cNvSpPr/>
          <p:nvPr/>
        </p:nvSpPr>
        <p:spPr>
          <a:xfrm>
            <a:off x="1835999" y="1908000"/>
            <a:ext cx="180000" cy="108000"/>
          </a:xfrm>
          <a:prstGeom prst="rect">
            <a:avLst/>
          </a:prstGeom>
          <a:solidFill>
            <a:srgbClr val="8888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ectangle 30"/>
          <p:cNvSpPr/>
          <p:nvPr/>
        </p:nvSpPr>
        <p:spPr>
          <a:xfrm>
            <a:off x="360000" y="3420000"/>
            <a:ext cx="11340000" cy="1620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468000" y="3456000"/>
            <a:ext cx="11160000" cy="151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500" b="1">
                <a:solidFill>
                  <a:srgbClr val="2A6F97"/>
                </a:solidFill>
              </a:rPr>
              <a:t>Ferramentas e Implementação</a:t>
            </a:r>
          </a:p>
          <a:p>
            <a:pPr>
              <a:spcBef>
                <a:spcPts val="400"/>
              </a:spcBef>
            </a:pPr>
            <a:r>
              <a:rPr sz="1300">
                <a:solidFill>
                  <a:srgbClr val="222233"/>
                </a:solidFill>
              </a:rPr>
              <a:t>  Python 3  |  pandas / numpy  |  matplotlib / seaborn  |  graphviz</a:t>
            </a:r>
          </a:p>
          <a:p>
            <a:pPr>
              <a:spcBef>
                <a:spcPts val="400"/>
              </a:spcBef>
            </a:pPr>
            <a:r>
              <a:rPr sz="1300">
                <a:solidFill>
                  <a:srgbClr val="222233"/>
                </a:solidFill>
              </a:rPr>
              <a:t>  pm_toolkit.py — biblioteca própria: DFG, Alpha Miner, Inductive Miner,</a:t>
            </a:r>
          </a:p>
          <a:p>
            <a:pPr>
              <a:spcBef>
                <a:spcPts val="400"/>
              </a:spcBef>
            </a:pPr>
            <a:r>
              <a:rPr sz="1300">
                <a:solidFill>
                  <a:srgbClr val="222233"/>
                </a:solidFill>
              </a:rPr>
              <a:t>  conformance checking e performance analysis implementados do zero</a:t>
            </a:r>
          </a:p>
          <a:p>
            <a:pPr>
              <a:spcBef>
                <a:spcPts val="400"/>
              </a:spcBef>
            </a:pPr>
            <a:r>
              <a:rPr sz="1300">
                <a:solidFill>
                  <a:srgbClr val="222233"/>
                </a:solidFill>
              </a:rPr>
              <a:t>  Objetivo: independência de bibliotecas externas (PM4Py indisponível)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3200" cy="6858000"/>
          </a:xfrm>
          <a:prstGeom prst="rect">
            <a:avLst/>
          </a:prstGeom>
          <a:solidFill>
            <a:srgbClr val="F0F4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3200" cy="1152000"/>
          </a:xfrm>
          <a:prstGeom prst="rect">
            <a:avLst/>
          </a:prstGeom>
          <a:solidFill>
            <a:srgbClr val="1E496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288000" y="108000"/>
            <a:ext cx="10080000" cy="54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 i="0">
                <a:solidFill>
                  <a:srgbClr val="FFFFFF"/>
                </a:solidFill>
              </a:rPr>
              <a:t>Análise Exploratória — Visão Geral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88000" y="630000"/>
            <a:ext cx="7920000" cy="36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B0D0E8"/>
                </a:solidFill>
              </a:rPr>
              <a:t>3.000 casos · 54.597 eventos · 23 atividades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1152000"/>
            <a:ext cx="12193200" cy="43200"/>
          </a:xfrm>
          <a:prstGeom prst="rect">
            <a:avLst/>
          </a:prstGeom>
          <a:solidFill>
            <a:srgbClr val="52B69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80000" y="6552000"/>
            <a:ext cx="9360000" cy="251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1">
                <a:solidFill>
                  <a:srgbClr val="888899"/>
                </a:solidFill>
              </a:rPr>
              <a:t>Process Mining — Tema 4 | Grupo G5 — UNIFESSPA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520000" y="6552000"/>
            <a:ext cx="540000" cy="251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0" i="0">
                <a:solidFill>
                  <a:srgbClr val="888899"/>
                </a:solidFill>
              </a:rPr>
              <a:t>6</a:t>
            </a:r>
          </a:p>
        </p:txBody>
      </p:sp>
      <p:sp>
        <p:nvSpPr>
          <p:cNvPr id="9" name="Rectangle 8"/>
          <p:cNvSpPr/>
          <p:nvPr/>
        </p:nvSpPr>
        <p:spPr>
          <a:xfrm>
            <a:off x="360000" y="1296000"/>
            <a:ext cx="2592000" cy="936000"/>
          </a:xfrm>
          <a:prstGeom prst="rect">
            <a:avLst/>
          </a:prstGeom>
          <a:solidFill>
            <a:srgbClr val="1E496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68000" y="1332000"/>
            <a:ext cx="2340000" cy="54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FFFFFF"/>
                </a:solidFill>
              </a:rPr>
              <a:t>3.000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68000" y="1800000"/>
            <a:ext cx="2340000" cy="324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FFFFFF"/>
                </a:solidFill>
              </a:rPr>
              <a:t>casos</a:t>
            </a:r>
          </a:p>
        </p:txBody>
      </p:sp>
      <p:sp>
        <p:nvSpPr>
          <p:cNvPr id="12" name="Rectangle 11"/>
          <p:cNvSpPr/>
          <p:nvPr/>
        </p:nvSpPr>
        <p:spPr>
          <a:xfrm>
            <a:off x="3240000" y="1296000"/>
            <a:ext cx="2592000" cy="936000"/>
          </a:xfrm>
          <a:prstGeom prst="rect">
            <a:avLst/>
          </a:prstGeom>
          <a:solidFill>
            <a:srgbClr val="2A6F9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3348000" y="1332000"/>
            <a:ext cx="2340000" cy="54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FFFFFF"/>
                </a:solidFill>
              </a:rPr>
              <a:t>54.597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348000" y="1800000"/>
            <a:ext cx="2340000" cy="324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FFFFFF"/>
                </a:solidFill>
              </a:rPr>
              <a:t>eventos</a:t>
            </a:r>
          </a:p>
        </p:txBody>
      </p:sp>
      <p:sp>
        <p:nvSpPr>
          <p:cNvPr id="15" name="Rectangle 14"/>
          <p:cNvSpPr/>
          <p:nvPr/>
        </p:nvSpPr>
        <p:spPr>
          <a:xfrm>
            <a:off x="6120000" y="1296000"/>
            <a:ext cx="2592000" cy="936000"/>
          </a:xfrm>
          <a:prstGeom prst="rect">
            <a:avLst/>
          </a:prstGeom>
          <a:solidFill>
            <a:srgbClr val="52B69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228000" y="1332000"/>
            <a:ext cx="2340000" cy="54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FFFFFF"/>
                </a:solidFill>
              </a:rPr>
              <a:t>18,20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228000" y="1800000"/>
            <a:ext cx="2340000" cy="324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FFFFFF"/>
                </a:solidFill>
              </a:rPr>
              <a:t>eventos/caso</a:t>
            </a:r>
          </a:p>
        </p:txBody>
      </p:sp>
      <p:sp>
        <p:nvSpPr>
          <p:cNvPr id="18" name="Rectangle 17"/>
          <p:cNvSpPr/>
          <p:nvPr/>
        </p:nvSpPr>
        <p:spPr>
          <a:xfrm>
            <a:off x="9000000" y="1296000"/>
            <a:ext cx="2592000" cy="936000"/>
          </a:xfrm>
          <a:prstGeom prst="rect">
            <a:avLst/>
          </a:prstGeom>
          <a:solidFill>
            <a:srgbClr val="F372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9108000" y="1332000"/>
            <a:ext cx="2340000" cy="54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FFFFFF"/>
                </a:solidFill>
              </a:rPr>
              <a:t>169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9108000" y="1800000"/>
            <a:ext cx="2340000" cy="324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FFFFFF"/>
                </a:solidFill>
              </a:rPr>
              <a:t>variantes</a:t>
            </a:r>
          </a:p>
        </p:txBody>
      </p:sp>
      <p:pic>
        <p:nvPicPr>
          <p:cNvPr id="21" name="Picture 20" descr="01_activity_frequency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88000" y="2412000"/>
            <a:ext cx="5580000" cy="4185000"/>
          </a:xfrm>
          <a:prstGeom prst="rect">
            <a:avLst/>
          </a:prstGeom>
        </p:spPr>
      </p:pic>
      <p:pic>
        <p:nvPicPr>
          <p:cNvPr id="22" name="Picture 21" descr="02_temporal_distribution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192000" y="2412000"/>
            <a:ext cx="5580000" cy="2790000"/>
          </a:xfrm>
          <a:prstGeom prst="rect">
            <a:avLst/>
          </a:prstGeom>
        </p:spPr>
      </p:pic>
      <p:sp>
        <p:nvSpPr>
          <p:cNvPr id="23" name="TextBox 22"/>
          <p:cNvSpPr txBox="1"/>
          <p:nvPr/>
        </p:nvSpPr>
        <p:spPr>
          <a:xfrm>
            <a:off x="288000" y="5868000"/>
            <a:ext cx="5580000" cy="28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1">
                <a:solidFill>
                  <a:srgbClr val="888899"/>
                </a:solidFill>
              </a:rPr>
              <a:t>Frequência de atividades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192000" y="5868000"/>
            <a:ext cx="5580000" cy="28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1">
                <a:solidFill>
                  <a:srgbClr val="888899"/>
                </a:solidFill>
              </a:rPr>
              <a:t>Distribuição temporal dos eventos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3200" cy="6858000"/>
          </a:xfrm>
          <a:prstGeom prst="rect">
            <a:avLst/>
          </a:prstGeom>
          <a:solidFill>
            <a:srgbClr val="F0F4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3200" cy="1152000"/>
          </a:xfrm>
          <a:prstGeom prst="rect">
            <a:avLst/>
          </a:prstGeom>
          <a:solidFill>
            <a:srgbClr val="1E496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288000" y="108000"/>
            <a:ext cx="10080000" cy="54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 i="0">
                <a:solidFill>
                  <a:srgbClr val="FFFFFF"/>
                </a:solidFill>
              </a:rPr>
              <a:t>Análise Exploratória — Duração e Variantes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88000" y="630000"/>
            <a:ext cx="7920000" cy="36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B0D0E8"/>
                </a:solidFill>
              </a:rPr>
              <a:t>Lead time e distribuição de variantes de execução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1152000"/>
            <a:ext cx="12193200" cy="43200"/>
          </a:xfrm>
          <a:prstGeom prst="rect">
            <a:avLst/>
          </a:prstGeom>
          <a:solidFill>
            <a:srgbClr val="52B69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80000" y="6552000"/>
            <a:ext cx="9360000" cy="251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1">
                <a:solidFill>
                  <a:srgbClr val="888899"/>
                </a:solidFill>
              </a:rPr>
              <a:t>Process Mining — Tema 4 | Grupo G5 — UNIFESSPA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520000" y="6552000"/>
            <a:ext cx="540000" cy="251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0" i="0">
                <a:solidFill>
                  <a:srgbClr val="888899"/>
                </a:solidFill>
              </a:rPr>
              <a:t>7</a:t>
            </a:r>
          </a:p>
        </p:txBody>
      </p:sp>
      <p:pic>
        <p:nvPicPr>
          <p:cNvPr id="9" name="Picture 8" descr="03_case_duration_distributio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88000" y="1296000"/>
            <a:ext cx="5580000" cy="3487500"/>
          </a:xfrm>
          <a:prstGeom prst="rect">
            <a:avLst/>
          </a:prstGeom>
        </p:spPr>
      </p:pic>
      <p:pic>
        <p:nvPicPr>
          <p:cNvPr id="10" name="Picture 9" descr="05_top_variants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192000" y="1296000"/>
            <a:ext cx="5580000" cy="3100000"/>
          </a:xfrm>
          <a:prstGeom prst="rect">
            <a:avLst/>
          </a:prstGeom>
        </p:spPr>
      </p:pic>
      <p:sp>
        <p:nvSpPr>
          <p:cNvPr id="11" name="Rectangle 10"/>
          <p:cNvSpPr/>
          <p:nvPr/>
        </p:nvSpPr>
        <p:spPr>
          <a:xfrm>
            <a:off x="288000" y="5328000"/>
            <a:ext cx="5472000" cy="1224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360000" y="5364000"/>
            <a:ext cx="5328000" cy="111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400"/>
              </a:spcBef>
            </a:pPr>
            <a:r>
              <a:rPr sz="1300">
                <a:solidFill>
                  <a:srgbClr val="222233"/>
                </a:solidFill>
              </a:rPr>
              <a:t>  Duração média: 4,82 dias (mediana 4,14 d)</a:t>
            </a:r>
          </a:p>
          <a:p>
            <a:pPr>
              <a:spcBef>
                <a:spcPts val="400"/>
              </a:spcBef>
            </a:pPr>
            <a:r>
              <a:rPr sz="1300">
                <a:solidFill>
                  <a:srgbClr val="222233"/>
                </a:solidFill>
              </a:rPr>
              <a:t>  P90: 8,43 d | Máximo: 39,17 d</a:t>
            </a:r>
          </a:p>
          <a:p>
            <a:pPr>
              <a:spcBef>
                <a:spcPts val="400"/>
              </a:spcBef>
            </a:pPr>
            <a:r>
              <a:rPr sz="1300">
                <a:solidFill>
                  <a:srgbClr val="222233"/>
                </a:solidFill>
              </a:rPr>
              <a:t>  Cauda longa indica laços de re-trabalho</a:t>
            </a:r>
          </a:p>
        </p:txBody>
      </p:sp>
      <p:sp>
        <p:nvSpPr>
          <p:cNvPr id="13" name="Rectangle 12"/>
          <p:cNvSpPr/>
          <p:nvPr/>
        </p:nvSpPr>
        <p:spPr>
          <a:xfrm>
            <a:off x="6192000" y="5328000"/>
            <a:ext cx="5580000" cy="1224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263999" y="5364000"/>
            <a:ext cx="5436000" cy="111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400"/>
              </a:spcBef>
            </a:pPr>
            <a:r>
              <a:rPr sz="1300">
                <a:solidFill>
                  <a:srgbClr val="222233"/>
                </a:solidFill>
              </a:rPr>
              <a:t>  169 variantes distintas de execução</a:t>
            </a:r>
          </a:p>
          <a:p>
            <a:pPr>
              <a:spcBef>
                <a:spcPts val="400"/>
              </a:spcBef>
            </a:pPr>
            <a:r>
              <a:rPr sz="1300">
                <a:solidFill>
                  <a:srgbClr val="222233"/>
                </a:solidFill>
              </a:rPr>
              <a:t>  Top 1 variante: 19,33% dos casos</a:t>
            </a:r>
          </a:p>
          <a:p>
            <a:pPr>
              <a:spcBef>
                <a:spcPts val="400"/>
              </a:spcBef>
            </a:pPr>
            <a:r>
              <a:rPr sz="1300">
                <a:solidFill>
                  <a:srgbClr val="222233"/>
                </a:solidFill>
              </a:rPr>
              <a:t>  Top 5 variantes: 44,47% dos casos</a:t>
            </a:r>
          </a:p>
          <a:p>
            <a:pPr>
              <a:spcBef>
                <a:spcPts val="400"/>
              </a:spcBef>
            </a:pPr>
            <a:r>
              <a:rPr sz="1300">
                <a:solidFill>
                  <a:srgbClr val="222233"/>
                </a:solidFill>
              </a:rPr>
              <a:t>  Distribuição de cauda longa típica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3200" cy="6858000"/>
          </a:xfrm>
          <a:prstGeom prst="rect">
            <a:avLst/>
          </a:prstGeom>
          <a:solidFill>
            <a:srgbClr val="F0F4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3200" cy="1152000"/>
          </a:xfrm>
          <a:prstGeom prst="rect">
            <a:avLst/>
          </a:prstGeom>
          <a:solidFill>
            <a:srgbClr val="1E496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288000" y="108000"/>
            <a:ext cx="10080000" cy="54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 i="0">
                <a:solidFill>
                  <a:srgbClr val="FFFFFF"/>
                </a:solidFill>
              </a:rPr>
              <a:t>Process Discovery — DFG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88000" y="630000"/>
            <a:ext cx="7920000" cy="36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B0D0E8"/>
                </a:solidFill>
              </a:rPr>
              <a:t>Directly-Follows Graph: cada seta = uma sequência observada no log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1152000"/>
            <a:ext cx="12193200" cy="43200"/>
          </a:xfrm>
          <a:prstGeom prst="rect">
            <a:avLst/>
          </a:prstGeom>
          <a:solidFill>
            <a:srgbClr val="52B69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80000" y="6552000"/>
            <a:ext cx="9360000" cy="251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1">
                <a:solidFill>
                  <a:srgbClr val="888899"/>
                </a:solidFill>
              </a:rPr>
              <a:t>Process Mining — Tema 4 | Grupo G5 — UNIFESSPA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520000" y="6552000"/>
            <a:ext cx="540000" cy="251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0" i="0">
                <a:solidFill>
                  <a:srgbClr val="888899"/>
                </a:solidFill>
              </a:rPr>
              <a:t>8</a:t>
            </a:r>
          </a:p>
        </p:txBody>
      </p:sp>
      <p:pic>
        <p:nvPicPr>
          <p:cNvPr id="9" name="Picture 8" descr="06_dfg_full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0000" y="1224000"/>
            <a:ext cx="5760000" cy="13933873"/>
          </a:xfrm>
          <a:prstGeom prst="rect">
            <a:avLst/>
          </a:prstGeom>
        </p:spPr>
      </p:pic>
      <p:pic>
        <p:nvPicPr>
          <p:cNvPr id="10" name="Picture 9" descr="07_dfg_filtered_heuristic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192000" y="1224000"/>
            <a:ext cx="5760000" cy="17141760"/>
          </a:xfrm>
          <a:prstGeom prst="rect">
            <a:avLst/>
          </a:prstGeom>
        </p:spPr>
      </p:pic>
      <p:sp>
        <p:nvSpPr>
          <p:cNvPr id="11" name="Rectangle 10"/>
          <p:cNvSpPr/>
          <p:nvPr/>
        </p:nvSpPr>
        <p:spPr>
          <a:xfrm>
            <a:off x="180000" y="5580000"/>
            <a:ext cx="5760000" cy="1080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251999" y="5616000"/>
            <a:ext cx="5616000" cy="28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1E4965"/>
                </a:solidFill>
              </a:rPr>
              <a:t>DFG Completo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251999" y="5832000"/>
            <a:ext cx="5616000" cy="251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222233"/>
                </a:solidFill>
              </a:rPr>
              <a:t>Todas as sequências observadas, incluindo raras.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251999" y="6066000"/>
            <a:ext cx="5616000" cy="251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1">
                <a:solidFill>
                  <a:srgbClr val="222233"/>
                </a:solidFill>
              </a:rPr>
              <a:t>Setas mais grossas = sequências mais frequentes.</a:t>
            </a:r>
          </a:p>
        </p:txBody>
      </p:sp>
      <p:sp>
        <p:nvSpPr>
          <p:cNvPr id="15" name="Rectangle 14"/>
          <p:cNvSpPr/>
          <p:nvPr/>
        </p:nvSpPr>
        <p:spPr>
          <a:xfrm>
            <a:off x="6192000" y="5580000"/>
            <a:ext cx="5580000" cy="1080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263999" y="5616000"/>
            <a:ext cx="5436000" cy="28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52B69A"/>
                </a:solidFill>
              </a:rPr>
              <a:t>DFG Filtrado (≥10% de frequência)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263999" y="5832000"/>
            <a:ext cx="5436000" cy="251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222233"/>
                </a:solidFill>
              </a:rPr>
              <a:t>Só o caminho principal — como a maioria dos casos flui.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263999" y="6066000"/>
            <a:ext cx="5436000" cy="251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1">
                <a:solidFill>
                  <a:srgbClr val="222233"/>
                </a:solidFill>
              </a:rPr>
              <a:t>Equivale ao Heuristic Miner: ignora sequências raras.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3200" cy="6858000"/>
          </a:xfrm>
          <a:prstGeom prst="rect">
            <a:avLst/>
          </a:prstGeom>
          <a:solidFill>
            <a:srgbClr val="F0F4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3200" cy="1152000"/>
          </a:xfrm>
          <a:prstGeom prst="rect">
            <a:avLst/>
          </a:prstGeom>
          <a:solidFill>
            <a:srgbClr val="1E496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288000" y="108000"/>
            <a:ext cx="10080000" cy="54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 i="0">
                <a:solidFill>
                  <a:srgbClr val="FFFFFF"/>
                </a:solidFill>
              </a:rPr>
              <a:t>Alpha Miner — Rede de Petri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88000" y="630000"/>
            <a:ext cx="7920000" cy="36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B0D0E8"/>
                </a:solidFill>
              </a:rPr>
              <a:t>Modelo formal com lugares (condições) e transições (atividades)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1152000"/>
            <a:ext cx="12193200" cy="43200"/>
          </a:xfrm>
          <a:prstGeom prst="rect">
            <a:avLst/>
          </a:prstGeom>
          <a:solidFill>
            <a:srgbClr val="52B69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80000" y="6552000"/>
            <a:ext cx="9360000" cy="251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1">
                <a:solidFill>
                  <a:srgbClr val="888899"/>
                </a:solidFill>
              </a:rPr>
              <a:t>Process Mining — Tema 4 | Grupo G5 — UNIFESSPA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520000" y="6552000"/>
            <a:ext cx="540000" cy="251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0" i="0">
                <a:solidFill>
                  <a:srgbClr val="888899"/>
                </a:solidFill>
              </a:rPr>
              <a:t>9</a:t>
            </a:r>
          </a:p>
        </p:txBody>
      </p:sp>
      <p:pic>
        <p:nvPicPr>
          <p:cNvPr id="9" name="Picture 8" descr="08_alpha_miner_ne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0000" y="1224000"/>
            <a:ext cx="7920000" cy="20365714"/>
          </a:xfrm>
          <a:prstGeom prst="rect">
            <a:avLst/>
          </a:prstGeom>
        </p:spPr>
      </p:pic>
      <p:sp>
        <p:nvSpPr>
          <p:cNvPr id="10" name="Rectangle 9"/>
          <p:cNvSpPr/>
          <p:nvPr/>
        </p:nvSpPr>
        <p:spPr>
          <a:xfrm>
            <a:off x="8352000" y="1224000"/>
            <a:ext cx="3528000" cy="3780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424000" y="1296000"/>
            <a:ext cx="3311999" cy="36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 b="1">
                <a:solidFill>
                  <a:srgbClr val="1E4965"/>
                </a:solidFill>
              </a:rPr>
              <a:t>Como ler o grafo</a:t>
            </a:r>
          </a:p>
          <a:p>
            <a:pPr>
              <a:spcBef>
                <a:spcPts val="400"/>
              </a:spcBef>
            </a:pPr>
            <a:r>
              <a:rPr sz="1200">
                <a:solidFill>
                  <a:srgbClr val="222233"/>
                </a:solidFill>
              </a:rPr>
              <a:t>  Quadrados laranja = atividades</a:t>
            </a:r>
          </a:p>
          <a:p>
            <a:pPr>
              <a:spcBef>
                <a:spcPts val="400"/>
              </a:spcBef>
            </a:pPr>
            <a:r>
              <a:rPr sz="1200">
                <a:solidFill>
                  <a:srgbClr val="222233"/>
                </a:solidFill>
              </a:rPr>
              <a:t>  Círculos verdes = condições</a:t>
            </a:r>
          </a:p>
          <a:p>
            <a:pPr>
              <a:spcBef>
                <a:spcPts val="400"/>
              </a:spcBef>
            </a:pPr>
            <a:r>
              <a:rPr sz="1200">
                <a:solidFill>
                  <a:srgbClr val="222233"/>
                </a:solidFill>
              </a:rPr>
              <a:t>  (ex.: 'oferta enviada')</a:t>
            </a:r>
          </a:p>
          <a:p>
            <a:pPr>
              <a:spcBef>
                <a:spcPts val="400"/>
              </a:spcBef>
            </a:pPr>
            <a:r>
              <a:rPr sz="1200">
                <a:solidFill>
                  <a:srgbClr val="222233"/>
                </a:solidFill>
              </a:rPr>
              <a:t>  </a:t>
            </a:r>
          </a:p>
          <a:p>
            <a:pPr>
              <a:spcBef>
                <a:spcPts val="400"/>
              </a:spcBef>
            </a:pPr>
            <a:r>
              <a:rPr sz="1200">
                <a:solidFill>
                  <a:srgbClr val="222233"/>
                </a:solidFill>
              </a:rPr>
              <a:t>  O algoritmo analisa:</a:t>
            </a:r>
          </a:p>
          <a:p>
            <a:pPr>
              <a:spcBef>
                <a:spcPts val="400"/>
              </a:spcBef>
            </a:pPr>
            <a:r>
              <a:rPr sz="1200">
                <a:solidFill>
                  <a:srgbClr val="222233"/>
                </a:solidFill>
              </a:rPr>
              <a:t>  Quem vem antes de quem?</a:t>
            </a:r>
          </a:p>
          <a:p>
            <a:pPr>
              <a:spcBef>
                <a:spcPts val="400"/>
              </a:spcBef>
            </a:pPr>
            <a:r>
              <a:rPr sz="1200">
                <a:solidFill>
                  <a:srgbClr val="222233"/>
                </a:solidFill>
              </a:rPr>
              <a:t>  Quem ocorre em paralelo?</a:t>
            </a:r>
          </a:p>
          <a:p>
            <a:pPr>
              <a:spcBef>
                <a:spcPts val="400"/>
              </a:spcBef>
            </a:pPr>
            <a:r>
              <a:rPr sz="1200">
                <a:solidFill>
                  <a:srgbClr val="222233"/>
                </a:solidFill>
              </a:rPr>
              <a:t>  Quem nunca ocorre junto?</a:t>
            </a:r>
          </a:p>
          <a:p>
            <a:pPr>
              <a:spcBef>
                <a:spcPts val="400"/>
              </a:spcBef>
            </a:pPr>
            <a:r>
              <a:rPr sz="1200">
                <a:solidFill>
                  <a:srgbClr val="222233"/>
                </a:solidFill>
              </a:rPr>
              <a:t>  </a:t>
            </a:r>
          </a:p>
          <a:p>
            <a:pPr>
              <a:spcBef>
                <a:spcPts val="400"/>
              </a:spcBef>
            </a:pPr>
            <a:r>
              <a:rPr sz="1200">
                <a:solidFill>
                  <a:srgbClr val="222233"/>
                </a:solidFill>
              </a:rPr>
              <a:t>  Ponto fraco: não lida bem com</a:t>
            </a:r>
          </a:p>
          <a:p>
            <a:pPr>
              <a:spcBef>
                <a:spcPts val="400"/>
              </a:spcBef>
            </a:pPr>
            <a:r>
              <a:rPr sz="1200">
                <a:solidFill>
                  <a:srgbClr val="222233"/>
                </a:solidFill>
              </a:rPr>
              <a:t>  laços curtos e repetições</a:t>
            </a:r>
          </a:p>
        </p:txBody>
      </p:sp>
      <p:sp>
        <p:nvSpPr>
          <p:cNvPr id="12" name="Rectangle 11"/>
          <p:cNvSpPr/>
          <p:nvPr/>
        </p:nvSpPr>
        <p:spPr>
          <a:xfrm>
            <a:off x="180000" y="5256000"/>
            <a:ext cx="11700000" cy="1368000"/>
          </a:xfrm>
          <a:prstGeom prst="rect">
            <a:avLst/>
          </a:prstGeom>
          <a:solidFill>
            <a:srgbClr val="E8F4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288000" y="5292000"/>
            <a:ext cx="5400000" cy="251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1E4965"/>
                </a:solidFill>
              </a:rPr>
              <a:t>Resultado para o BPI17: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288000" y="5508000"/>
            <a:ext cx="11340000" cy="251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222233"/>
                </a:solidFill>
              </a:rPr>
              <a:t>23 atividades gerou 23 condições — estrutura densa, reflexo dos laços de re-trabalho.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288000" y="5760000"/>
            <a:ext cx="11340000" cy="28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222233"/>
                </a:solidFill>
              </a:rPr>
              <a:t>Fitness: 1,000  |  Precision: 1,000  |  Simplicity: 0,906  — melhor equilíbrio entre os modelos testados.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3200" cy="6858000"/>
          </a:xfrm>
          <a:prstGeom prst="rect">
            <a:avLst/>
          </a:prstGeom>
          <a:solidFill>
            <a:srgbClr val="F0F4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3200" cy="1152000"/>
          </a:xfrm>
          <a:prstGeom prst="rect">
            <a:avLst/>
          </a:prstGeom>
          <a:solidFill>
            <a:srgbClr val="1E496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288000" y="108000"/>
            <a:ext cx="10080000" cy="54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 i="0">
                <a:solidFill>
                  <a:srgbClr val="FFFFFF"/>
                </a:solidFill>
              </a:rPr>
              <a:t>Conformance Checking — Resultados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88000" y="630000"/>
            <a:ext cx="7920000" cy="36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B0D0E8"/>
                </a:solidFill>
              </a:rPr>
              <a:t>Comparação entre os modelos descobertos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1152000"/>
            <a:ext cx="12193200" cy="43200"/>
          </a:xfrm>
          <a:prstGeom prst="rect">
            <a:avLst/>
          </a:prstGeom>
          <a:solidFill>
            <a:srgbClr val="52B69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80000" y="6552000"/>
            <a:ext cx="9360000" cy="251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1">
                <a:solidFill>
                  <a:srgbClr val="888899"/>
                </a:solidFill>
              </a:rPr>
              <a:t>Process Mining — Tema 4 | Grupo G5 — UNIFESSPA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520000" y="6552000"/>
            <a:ext cx="540000" cy="251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0" i="0">
                <a:solidFill>
                  <a:srgbClr val="888899"/>
                </a:solidFill>
              </a:rPr>
              <a:t>10</a:t>
            </a:r>
          </a:p>
        </p:txBody>
      </p:sp>
      <p:sp>
        <p:nvSpPr>
          <p:cNvPr id="9" name="Rectangle 8"/>
          <p:cNvSpPr/>
          <p:nvPr/>
        </p:nvSpPr>
        <p:spPr>
          <a:xfrm>
            <a:off x="288000" y="1296000"/>
            <a:ext cx="11448000" cy="540000"/>
          </a:xfrm>
          <a:prstGeom prst="rect">
            <a:avLst/>
          </a:prstGeom>
          <a:solidFill>
            <a:srgbClr val="1E496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360000" y="1368000"/>
            <a:ext cx="3420000" cy="39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FFFFFF"/>
                </a:solidFill>
              </a:rPr>
              <a:t>Modelo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960000" y="1368000"/>
            <a:ext cx="1800000" cy="39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FFFFFF"/>
                </a:solidFill>
              </a:rPr>
              <a:t>Fitness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940000" y="1368000"/>
            <a:ext cx="1440000" cy="39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FFFFFF"/>
                </a:solidFill>
              </a:rPr>
              <a:t>Precision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380000" y="1368000"/>
            <a:ext cx="1440000" cy="39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FFFFFF"/>
                </a:solidFill>
              </a:rPr>
              <a:t>Generaliz.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820000" y="1368000"/>
            <a:ext cx="1440000" cy="39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FFFFFF"/>
                </a:solidFill>
              </a:rPr>
              <a:t>Simplicity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0260000" y="1368000"/>
            <a:ext cx="1620000" cy="39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FFFFFF"/>
                </a:solidFill>
              </a:rPr>
              <a:t>Arestas</a:t>
            </a:r>
          </a:p>
        </p:txBody>
      </p:sp>
      <p:sp>
        <p:nvSpPr>
          <p:cNvPr id="16" name="Rectangle 15"/>
          <p:cNvSpPr/>
          <p:nvPr/>
        </p:nvSpPr>
        <p:spPr>
          <a:xfrm>
            <a:off x="288000" y="1872000"/>
            <a:ext cx="11448000" cy="540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360000" y="1944000"/>
            <a:ext cx="3420000" cy="39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222233"/>
                </a:solidFill>
              </a:rPr>
              <a:t>DFG filtrado (Heuristic)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960000" y="1944000"/>
            <a:ext cx="1800000" cy="39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222233"/>
                </a:solidFill>
              </a:rPr>
              <a:t>0,9893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940000" y="1944000"/>
            <a:ext cx="1440000" cy="39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222233"/>
                </a:solidFill>
              </a:rPr>
              <a:t>1,0000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380000" y="1944000"/>
            <a:ext cx="1440000" cy="39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222233"/>
                </a:solidFill>
              </a:rPr>
              <a:t>1,0000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820000" y="1944000"/>
            <a:ext cx="1440000" cy="39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222233"/>
                </a:solidFill>
              </a:rPr>
              <a:t>0,9149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0260000" y="1944000"/>
            <a:ext cx="1620000" cy="39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222233"/>
                </a:solidFill>
              </a:rPr>
              <a:t>24</a:t>
            </a:r>
          </a:p>
        </p:txBody>
      </p:sp>
      <p:sp>
        <p:nvSpPr>
          <p:cNvPr id="23" name="Rectangle 22"/>
          <p:cNvSpPr/>
          <p:nvPr/>
        </p:nvSpPr>
        <p:spPr>
          <a:xfrm>
            <a:off x="288000" y="2448000"/>
            <a:ext cx="11448000" cy="540000"/>
          </a:xfrm>
          <a:prstGeom prst="rect">
            <a:avLst/>
          </a:prstGeom>
          <a:solidFill>
            <a:srgbClr val="E8F4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360000" y="2520000"/>
            <a:ext cx="3420000" cy="39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222233"/>
                </a:solidFill>
              </a:rPr>
              <a:t>Alpha Miner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3960000" y="2520000"/>
            <a:ext cx="1800000" cy="39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222233"/>
                </a:solidFill>
              </a:rPr>
              <a:t>1,0000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5940000" y="2520000"/>
            <a:ext cx="1440000" cy="39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222233"/>
                </a:solidFill>
              </a:rPr>
              <a:t>1,0000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7380000" y="2520000"/>
            <a:ext cx="1440000" cy="39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222233"/>
                </a:solidFill>
              </a:rPr>
              <a:t>1,0000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8820000" y="2520000"/>
            <a:ext cx="1440000" cy="39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222233"/>
                </a:solidFill>
              </a:rPr>
              <a:t>0,9058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0260000" y="2520000"/>
            <a:ext cx="1620000" cy="39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222233"/>
                </a:solidFill>
              </a:rPr>
              <a:t>29</a:t>
            </a:r>
          </a:p>
        </p:txBody>
      </p:sp>
      <p:sp>
        <p:nvSpPr>
          <p:cNvPr id="30" name="Rectangle 29"/>
          <p:cNvSpPr/>
          <p:nvPr/>
        </p:nvSpPr>
        <p:spPr>
          <a:xfrm>
            <a:off x="288000" y="3024000"/>
            <a:ext cx="11448000" cy="540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360000" y="3096000"/>
            <a:ext cx="3420000" cy="39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222233"/>
                </a:solidFill>
              </a:rPr>
              <a:t>Inductive Miner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3960000" y="3096000"/>
            <a:ext cx="1800000" cy="39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222233"/>
                </a:solidFill>
              </a:rPr>
              <a:t>0,9973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5940000" y="3096000"/>
            <a:ext cx="1440000" cy="39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F3722C"/>
                </a:solidFill>
              </a:rPr>
              <a:t>0,0664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7380000" y="3096000"/>
            <a:ext cx="1440000" cy="39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F3722C"/>
                </a:solidFill>
              </a:rPr>
              <a:t>0,0664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8820000" y="3096000"/>
            <a:ext cx="1440000" cy="39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F3722C"/>
                </a:solidFill>
              </a:rPr>
              <a:t>0,1938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10260000" y="3096000"/>
            <a:ext cx="1620000" cy="39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F3722C"/>
                </a:solidFill>
              </a:rPr>
              <a:t>422</a:t>
            </a:r>
          </a:p>
        </p:txBody>
      </p:sp>
      <p:sp>
        <p:nvSpPr>
          <p:cNvPr id="37" name="Rectangle 36"/>
          <p:cNvSpPr/>
          <p:nvPr/>
        </p:nvSpPr>
        <p:spPr>
          <a:xfrm>
            <a:off x="288000" y="3600000"/>
            <a:ext cx="11448000" cy="540000"/>
          </a:xfrm>
          <a:prstGeom prst="rect">
            <a:avLst/>
          </a:prstGeom>
          <a:solidFill>
            <a:srgbClr val="E8F4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360000" y="3671999"/>
            <a:ext cx="3420000" cy="39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222233"/>
                </a:solidFill>
              </a:rPr>
              <a:t>DFG completo (bruto)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3960000" y="3671999"/>
            <a:ext cx="1800000" cy="39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222233"/>
                </a:solidFill>
              </a:rPr>
              <a:t>1,0000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5940000" y="3671999"/>
            <a:ext cx="1440000" cy="39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222233"/>
                </a:solidFill>
              </a:rPr>
              <a:t>1,0000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7380000" y="3671999"/>
            <a:ext cx="1440000" cy="39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222233"/>
                </a:solidFill>
              </a:rPr>
              <a:t>1,0000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8820000" y="3671999"/>
            <a:ext cx="1440000" cy="39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222233"/>
                </a:solidFill>
              </a:rPr>
              <a:t>0,9058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10260000" y="3671999"/>
            <a:ext cx="1620000" cy="39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222233"/>
                </a:solidFill>
              </a:rPr>
              <a:t>29</a:t>
            </a:r>
          </a:p>
        </p:txBody>
      </p:sp>
      <p:sp>
        <p:nvSpPr>
          <p:cNvPr id="44" name="Rectangle 43"/>
          <p:cNvSpPr/>
          <p:nvPr/>
        </p:nvSpPr>
        <p:spPr>
          <a:xfrm>
            <a:off x="288000" y="3456000"/>
            <a:ext cx="11448000" cy="540000"/>
          </a:xfrm>
          <a:prstGeom prst="rect">
            <a:avLst/>
          </a:prstGeom>
          <a:solidFill>
            <a:srgbClr val="FFF0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396000" y="3510000"/>
            <a:ext cx="11232000" cy="39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8B4513"/>
                </a:solidFill>
              </a:rPr>
              <a:t>⚠  Inductive Miner caiu no 'modelo flor': permite qualquer sequência → fitness alta, mas precision quase zero.</a:t>
            </a:r>
          </a:p>
        </p:txBody>
      </p:sp>
      <p:sp>
        <p:nvSpPr>
          <p:cNvPr id="46" name="Rectangle 45"/>
          <p:cNvSpPr/>
          <p:nvPr/>
        </p:nvSpPr>
        <p:spPr>
          <a:xfrm>
            <a:off x="288000" y="4104000"/>
            <a:ext cx="11448000" cy="1980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TextBox 46"/>
          <p:cNvSpPr txBox="1"/>
          <p:nvPr/>
        </p:nvSpPr>
        <p:spPr>
          <a:xfrm>
            <a:off x="360000" y="4140000"/>
            <a:ext cx="11304000" cy="18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400"/>
              </a:spcBef>
            </a:pPr>
            <a:r>
              <a:rPr sz="1200">
                <a:solidFill>
                  <a:srgbClr val="222233"/>
                </a:solidFill>
              </a:rPr>
              <a:t>  Fitness mede: 'o modelo consegue reproduzir o que aconteceu no log?'</a:t>
            </a:r>
          </a:p>
          <a:p>
            <a:pPr>
              <a:spcBef>
                <a:spcPts val="400"/>
              </a:spcBef>
            </a:pPr>
            <a:r>
              <a:rPr sz="1200">
                <a:solidFill>
                  <a:srgbClr val="222233"/>
                </a:solidFill>
              </a:rPr>
              <a:t>  Precision mede: 'o modelo só permite o que realmente acontece?'</a:t>
            </a:r>
          </a:p>
          <a:p>
            <a:pPr>
              <a:spcBef>
                <a:spcPts val="400"/>
              </a:spcBef>
            </a:pPr>
            <a:r>
              <a:rPr sz="1200">
                <a:solidFill>
                  <a:srgbClr val="222233"/>
                </a:solidFill>
              </a:rPr>
              <a:t>  </a:t>
            </a:r>
          </a:p>
          <a:p>
            <a:pPr>
              <a:spcBef>
                <a:spcPts val="400"/>
              </a:spcBef>
            </a:pPr>
            <a:r>
              <a:rPr sz="1200">
                <a:solidFill>
                  <a:srgbClr val="222233"/>
                </a:solidFill>
              </a:rPr>
              <a:t>  Inductive Miner (fitness=0,997 / precision=0,066):</a:t>
            </a:r>
          </a:p>
          <a:p>
            <a:pPr>
              <a:spcBef>
                <a:spcPts val="400"/>
              </a:spcBef>
            </a:pPr>
            <a:r>
              <a:rPr sz="1200">
                <a:solidFill>
                  <a:srgbClr val="222233"/>
                </a:solidFill>
              </a:rPr>
              <a:t>  Aceita quase tudo — inclusive sequências impossíveis na prática</a:t>
            </a:r>
          </a:p>
          <a:p>
            <a:pPr>
              <a:spcBef>
                <a:spcPts val="400"/>
              </a:spcBef>
            </a:pPr>
            <a:r>
              <a:rPr sz="1200">
                <a:solidFill>
                  <a:srgbClr val="222233"/>
                </a:solidFill>
              </a:rPr>
              <a:t>  Alpha Miner (fitness=1,0 / precision=1,0 / 29 arestas):</a:t>
            </a:r>
          </a:p>
          <a:p>
            <a:pPr>
              <a:spcBef>
                <a:spcPts val="400"/>
              </a:spcBef>
            </a:pPr>
            <a:r>
              <a:rPr sz="1200">
                <a:solidFill>
                  <a:srgbClr val="222233"/>
                </a:solidFill>
              </a:rPr>
              <a:t>  Modelo mais útil — representa exatamente o que foi observado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3200" cy="6858000"/>
          </a:xfrm>
          <a:prstGeom prst="rect">
            <a:avLst/>
          </a:prstGeom>
          <a:solidFill>
            <a:srgbClr val="F0F4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3200" cy="1152000"/>
          </a:xfrm>
          <a:prstGeom prst="rect">
            <a:avLst/>
          </a:prstGeom>
          <a:solidFill>
            <a:srgbClr val="1E496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288000" y="108000"/>
            <a:ext cx="10080000" cy="54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 i="0">
                <a:solidFill>
                  <a:srgbClr val="FFFFFF"/>
                </a:solidFill>
              </a:rPr>
              <a:t>Conformance Checking — Desvios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88000" y="630000"/>
            <a:ext cx="7920000" cy="36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B0D0E8"/>
                </a:solidFill>
              </a:rPr>
              <a:t>Top desvios contra o modelo DFG filtrado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1152000"/>
            <a:ext cx="12193200" cy="43200"/>
          </a:xfrm>
          <a:prstGeom prst="rect">
            <a:avLst/>
          </a:prstGeom>
          <a:solidFill>
            <a:srgbClr val="52B69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80000" y="6552000"/>
            <a:ext cx="9360000" cy="251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1">
                <a:solidFill>
                  <a:srgbClr val="888899"/>
                </a:solidFill>
              </a:rPr>
              <a:t>Process Mining — Tema 4 | Grupo G5 — UNIFESSPA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520000" y="6552000"/>
            <a:ext cx="540000" cy="251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0" i="0">
                <a:solidFill>
                  <a:srgbClr val="888899"/>
                </a:solidFill>
              </a:rPr>
              <a:t>11</a:t>
            </a:r>
          </a:p>
        </p:txBody>
      </p:sp>
      <p:pic>
        <p:nvPicPr>
          <p:cNvPr id="9" name="Picture 8" descr="09_conformance_metric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0000" y="1260000"/>
            <a:ext cx="6480000" cy="3564000"/>
          </a:xfrm>
          <a:prstGeom prst="rect">
            <a:avLst/>
          </a:prstGeom>
        </p:spPr>
      </p:pic>
      <p:pic>
        <p:nvPicPr>
          <p:cNvPr id="10" name="Picture 9" descr="10_top_deviations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840000" y="1260000"/>
            <a:ext cx="5040000" cy="2800000"/>
          </a:xfrm>
          <a:prstGeom prst="rect">
            <a:avLst/>
          </a:prstGeom>
        </p:spPr>
      </p:pic>
      <p:sp>
        <p:nvSpPr>
          <p:cNvPr id="11" name="Rectangle 10"/>
          <p:cNvSpPr/>
          <p:nvPr/>
        </p:nvSpPr>
        <p:spPr>
          <a:xfrm>
            <a:off x="180000" y="5472000"/>
            <a:ext cx="11700000" cy="1080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251999" y="5508000"/>
            <a:ext cx="11520000" cy="9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400"/>
              </a:spcBef>
            </a:pPr>
            <a:r>
              <a:rPr sz="1200">
                <a:solidFill>
                  <a:srgbClr val="222233"/>
                </a:solidFill>
              </a:rPr>
              <a:t>  Laço de múltiplas ofertas (267 ocorr.): estruturalmente esperado no processo de empréstimos</a:t>
            </a:r>
          </a:p>
          <a:p>
            <a:pPr>
              <a:spcBef>
                <a:spcPts val="400"/>
              </a:spcBef>
            </a:pPr>
            <a:r>
              <a:rPr sz="1200">
                <a:solidFill>
                  <a:srgbClr val="222233"/>
                </a:solidFill>
              </a:rPr>
              <a:t>  Omissão de W_Handle leads (171): via alternativa conhecida</a:t>
            </a:r>
          </a:p>
          <a:p>
            <a:pPr>
              <a:spcBef>
                <a:spcPts val="400"/>
              </a:spcBef>
            </a:pPr>
            <a:r>
              <a:rPr sz="1200">
                <a:solidFill>
                  <a:srgbClr val="222233"/>
                </a:solidFill>
              </a:rPr>
              <a:t>  Ramificação de análise de fraude (126/78/48): exceção rara, mas processualmente distinta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3200" cy="6858000"/>
          </a:xfrm>
          <a:prstGeom prst="rect">
            <a:avLst/>
          </a:prstGeom>
          <a:solidFill>
            <a:srgbClr val="F0F4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3200" cy="1152000"/>
          </a:xfrm>
          <a:prstGeom prst="rect">
            <a:avLst/>
          </a:prstGeom>
          <a:solidFill>
            <a:srgbClr val="1E496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288000" y="108000"/>
            <a:ext cx="10080000" cy="54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 i="0">
                <a:solidFill>
                  <a:srgbClr val="FFFFFF"/>
                </a:solidFill>
              </a:rPr>
              <a:t>Performance Analysis — Gargalos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88000" y="630000"/>
            <a:ext cx="7920000" cy="36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B0D0E8"/>
                </a:solidFill>
              </a:rPr>
              <a:t>Tempo de espera entre atividades consecutivas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1152000"/>
            <a:ext cx="12193200" cy="43200"/>
          </a:xfrm>
          <a:prstGeom prst="rect">
            <a:avLst/>
          </a:prstGeom>
          <a:solidFill>
            <a:srgbClr val="52B69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80000" y="6552000"/>
            <a:ext cx="9360000" cy="251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1">
                <a:solidFill>
                  <a:srgbClr val="888899"/>
                </a:solidFill>
              </a:rPr>
              <a:t>Process Mining — Tema 4 | Grupo G5 — UNIFESSPA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520000" y="6552000"/>
            <a:ext cx="540000" cy="251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0" i="0">
                <a:solidFill>
                  <a:srgbClr val="888899"/>
                </a:solidFill>
              </a:rPr>
              <a:t>12</a:t>
            </a:r>
          </a:p>
        </p:txBody>
      </p:sp>
      <p:pic>
        <p:nvPicPr>
          <p:cNvPr id="9" name="Picture 8" descr="11_bottleneck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0000" y="1260000"/>
            <a:ext cx="6660000" cy="3996000"/>
          </a:xfrm>
          <a:prstGeom prst="rect">
            <a:avLst/>
          </a:prstGeom>
        </p:spPr>
      </p:pic>
      <p:pic>
        <p:nvPicPr>
          <p:cNvPr id="10" name="Picture 9" descr="12_wait_by_activity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020000" y="1260000"/>
            <a:ext cx="4860000" cy="3645000"/>
          </a:xfrm>
          <a:prstGeom prst="rect">
            <a:avLst/>
          </a:prstGeom>
        </p:spPr>
      </p:pic>
      <p:sp>
        <p:nvSpPr>
          <p:cNvPr id="11" name="Rectangle 10"/>
          <p:cNvSpPr/>
          <p:nvPr/>
        </p:nvSpPr>
        <p:spPr>
          <a:xfrm>
            <a:off x="180000" y="5472000"/>
            <a:ext cx="11340000" cy="1260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288000" y="5508000"/>
            <a:ext cx="7200000" cy="251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1E4965"/>
                </a:solidFill>
              </a:rPr>
              <a:t>O que os dados revelam: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288000" y="5724000"/>
            <a:ext cx="11232000" cy="9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400"/>
              </a:spcBef>
            </a:pPr>
            <a:r>
              <a:rPr sz="1200">
                <a:solidFill>
                  <a:srgbClr val="222233"/>
                </a:solidFill>
              </a:rPr>
              <a:t>  Maior gargalo: após enviar a oferta, o cliente demora em média 1,27 dias para ser contatado</a:t>
            </a:r>
          </a:p>
          <a:p>
            <a:pPr>
              <a:spcBef>
                <a:spcPts val="400"/>
              </a:spcBef>
            </a:pPr>
            <a:r>
              <a:rPr sz="1200">
                <a:solidFill>
                  <a:srgbClr val="222233"/>
                </a:solidFill>
              </a:rPr>
              <a:t>  Todos os atrasos estão em etapas humanas — ligações, validação de documentos</a:t>
            </a:r>
          </a:p>
          <a:p>
            <a:pPr>
              <a:spcBef>
                <a:spcPts val="400"/>
              </a:spcBef>
            </a:pPr>
            <a:r>
              <a:rPr sz="1200">
                <a:solidFill>
                  <a:srgbClr val="222233"/>
                </a:solidFill>
              </a:rPr>
              <a:t>  Etapas automáticas (criar oferta, enviar email) levam segundos</a:t>
            </a:r>
          </a:p>
          <a:p>
            <a:pPr>
              <a:spcBef>
                <a:spcPts val="400"/>
              </a:spcBef>
            </a:pPr>
            <a:r>
              <a:rPr sz="1200">
                <a:solidFill>
                  <a:srgbClr val="222233"/>
                </a:solidFill>
              </a:rPr>
              <a:t>  Conclusão prática: mais atendentes ou automação da triagem reduziria o tempo total do processo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3200" cy="6858000"/>
          </a:xfrm>
          <a:prstGeom prst="rect">
            <a:avLst/>
          </a:prstGeom>
          <a:solidFill>
            <a:srgbClr val="F0F4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3200" cy="1152000"/>
          </a:xfrm>
          <a:prstGeom prst="rect">
            <a:avLst/>
          </a:prstGeom>
          <a:solidFill>
            <a:srgbClr val="1E496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288000" y="108000"/>
            <a:ext cx="10080000" cy="54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 i="0">
                <a:solidFill>
                  <a:srgbClr val="FFFFFF"/>
                </a:solidFill>
              </a:rPr>
              <a:t>Análise Crítica — O que os resultados significam?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88000" y="630000"/>
            <a:ext cx="7920000" cy="36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B0D0E8"/>
                </a:solidFill>
              </a:rPr>
              <a:t>Além dos números: interpretação e implicações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1152000"/>
            <a:ext cx="12193200" cy="43200"/>
          </a:xfrm>
          <a:prstGeom prst="rect">
            <a:avLst/>
          </a:prstGeom>
          <a:solidFill>
            <a:srgbClr val="52B69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80000" y="6552000"/>
            <a:ext cx="9360000" cy="251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1">
                <a:solidFill>
                  <a:srgbClr val="888899"/>
                </a:solidFill>
              </a:rPr>
              <a:t>Process Mining — Tema 4 | Grupo G5 — UNIFESSPA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520000" y="6552000"/>
            <a:ext cx="540000" cy="251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0" i="0">
                <a:solidFill>
                  <a:srgbClr val="888899"/>
                </a:solidFill>
              </a:rPr>
              <a:t>13</a:t>
            </a:r>
          </a:p>
        </p:txBody>
      </p:sp>
      <p:sp>
        <p:nvSpPr>
          <p:cNvPr id="9" name="Rectangle 8"/>
          <p:cNvSpPr/>
          <p:nvPr/>
        </p:nvSpPr>
        <p:spPr>
          <a:xfrm>
            <a:off x="288000" y="1260000"/>
            <a:ext cx="144000" cy="1152000"/>
          </a:xfrm>
          <a:prstGeom prst="rect">
            <a:avLst/>
          </a:prstGeom>
          <a:solidFill>
            <a:srgbClr val="1E496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503999" y="1278000"/>
            <a:ext cx="11340000" cy="324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1E4965"/>
                </a:solidFill>
              </a:rPr>
              <a:t>O processo real é muito mais caótico que o planejado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03999" y="1584000"/>
            <a:ext cx="11340000" cy="324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222233"/>
                </a:solidFill>
              </a:rPr>
              <a:t>169 variantes — só 19,3% seguem o fluxo ideal. Os outros 80,7% desviam por re-trabalho, múltiplas ofertas ou fraude.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03999" y="1890000"/>
            <a:ext cx="11340000" cy="324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1">
                <a:solidFill>
                  <a:srgbClr val="888899"/>
                </a:solidFill>
              </a:rPr>
              <a:t>Por que isso importa? Um gestor que só olha o fluxograma não enxerga a complexidade real do dia a dia.</a:t>
            </a:r>
          </a:p>
        </p:txBody>
      </p:sp>
      <p:sp>
        <p:nvSpPr>
          <p:cNvPr id="13" name="Rectangle 12"/>
          <p:cNvSpPr/>
          <p:nvPr/>
        </p:nvSpPr>
        <p:spPr>
          <a:xfrm>
            <a:off x="288000" y="2592000"/>
            <a:ext cx="144000" cy="1152000"/>
          </a:xfrm>
          <a:prstGeom prst="rect">
            <a:avLst/>
          </a:prstGeom>
          <a:solidFill>
            <a:srgbClr val="52B69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503999" y="2610000"/>
            <a:ext cx="11340000" cy="324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52B69A"/>
                </a:solidFill>
              </a:rPr>
              <a:t>Os gargalos são humanos, não tecnológicos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03999" y="2916000"/>
            <a:ext cx="11340000" cy="324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222233"/>
                </a:solidFill>
              </a:rPr>
              <a:t>Todas as etapas automáticas (criar oferta, enviar email) levam segundos. Os atrasos estão nas ligações e validações.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03999" y="3221999"/>
            <a:ext cx="11340000" cy="324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1">
                <a:solidFill>
                  <a:srgbClr val="888899"/>
                </a:solidFill>
              </a:rPr>
              <a:t>Por que isso importa? Investir em mais servidores não resolve. O problema é de capacidade humana e triagem.</a:t>
            </a:r>
          </a:p>
        </p:txBody>
      </p:sp>
      <p:sp>
        <p:nvSpPr>
          <p:cNvPr id="17" name="Rectangle 16"/>
          <p:cNvSpPr/>
          <p:nvPr/>
        </p:nvSpPr>
        <p:spPr>
          <a:xfrm>
            <a:off x="288000" y="3924000"/>
            <a:ext cx="144000" cy="1152000"/>
          </a:xfrm>
          <a:prstGeom prst="rect">
            <a:avLst/>
          </a:prstGeom>
          <a:solidFill>
            <a:srgbClr val="F372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503999" y="3942000"/>
            <a:ext cx="11340000" cy="324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3722C"/>
                </a:solidFill>
              </a:rPr>
              <a:t>Alta fitness não garante modelo útil — cuidado com o modelo flor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03999" y="4248000"/>
            <a:ext cx="11340000" cy="324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222233"/>
                </a:solidFill>
              </a:rPr>
              <a:t>Inductive Miner: fitness 99,7% mas precision 6,6%. O modelo aceita praticamente qualquer sequência de atividades.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03999" y="4554000"/>
            <a:ext cx="11340000" cy="324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1">
                <a:solidFill>
                  <a:srgbClr val="888899"/>
                </a:solidFill>
              </a:rPr>
              <a:t>Por que isso importa? Uma métrica boa isolada pode enganar. É preciso analisar o conjunto fitness + precision.</a:t>
            </a:r>
          </a:p>
        </p:txBody>
      </p:sp>
      <p:sp>
        <p:nvSpPr>
          <p:cNvPr id="21" name="Rectangle 20"/>
          <p:cNvSpPr/>
          <p:nvPr/>
        </p:nvSpPr>
        <p:spPr>
          <a:xfrm>
            <a:off x="288000" y="5256000"/>
            <a:ext cx="144000" cy="1152000"/>
          </a:xfrm>
          <a:prstGeom prst="rect">
            <a:avLst/>
          </a:prstGeom>
          <a:solidFill>
            <a:srgbClr val="2A6F9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503999" y="5274000"/>
            <a:ext cx="11340000" cy="324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2A6F97"/>
                </a:solidFill>
              </a:rPr>
              <a:t>A escolha do algoritmo depende do objetivo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503999" y="5580000"/>
            <a:ext cx="11340000" cy="324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222233"/>
                </a:solidFill>
              </a:rPr>
              <a:t>Alpha Miner revelou o processo de forma compacta (29 arestas). Inductive Miner é mais formal, mas menos útil aqui.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503999" y="5886000"/>
            <a:ext cx="11340000" cy="324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1">
                <a:solidFill>
                  <a:srgbClr val="888899"/>
                </a:solidFill>
              </a:rPr>
              <a:t>Por que isso importa? Não existe algoritmo universalmente melhor — o contexto define a escolha.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3200" cy="6858000"/>
          </a:xfrm>
          <a:prstGeom prst="rect">
            <a:avLst/>
          </a:prstGeom>
          <a:solidFill>
            <a:srgbClr val="F0F4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3200" cy="1152000"/>
          </a:xfrm>
          <a:prstGeom prst="rect">
            <a:avLst/>
          </a:prstGeom>
          <a:solidFill>
            <a:srgbClr val="1E496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288000" y="108000"/>
            <a:ext cx="10080000" cy="54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 i="0">
                <a:solidFill>
                  <a:srgbClr val="FFFFFF"/>
                </a:solidFill>
              </a:rPr>
              <a:t>Limitações — Honestidade Metodológica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88000" y="630000"/>
            <a:ext cx="7920000" cy="36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B0D0E8"/>
                </a:solidFill>
              </a:rPr>
              <a:t>O que afeta os resultados e como mitigar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1152000"/>
            <a:ext cx="12193200" cy="43200"/>
          </a:xfrm>
          <a:prstGeom prst="rect">
            <a:avLst/>
          </a:prstGeom>
          <a:solidFill>
            <a:srgbClr val="52B69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80000" y="6552000"/>
            <a:ext cx="9360000" cy="251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1">
                <a:solidFill>
                  <a:srgbClr val="888899"/>
                </a:solidFill>
              </a:rPr>
              <a:t>Process Mining — Tema 4 | Grupo G5 — UNIFESSPA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520000" y="6552000"/>
            <a:ext cx="540000" cy="251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0" i="0">
                <a:solidFill>
                  <a:srgbClr val="888899"/>
                </a:solidFill>
              </a:rPr>
              <a:t>14</a:t>
            </a:r>
          </a:p>
        </p:txBody>
      </p:sp>
      <p:sp>
        <p:nvSpPr>
          <p:cNvPr id="9" name="Rectangle 8"/>
          <p:cNvSpPr/>
          <p:nvPr/>
        </p:nvSpPr>
        <p:spPr>
          <a:xfrm>
            <a:off x="288000" y="1260000"/>
            <a:ext cx="144000" cy="1152000"/>
          </a:xfrm>
          <a:prstGeom prst="rect">
            <a:avLst/>
          </a:prstGeom>
          <a:solidFill>
            <a:srgbClr val="F372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503999" y="1278000"/>
            <a:ext cx="11340000" cy="30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3722C"/>
                </a:solidFill>
              </a:rPr>
              <a:t>Log sintético, não o BPI17 real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03999" y="1565999"/>
            <a:ext cx="11340000" cy="28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222233"/>
                </a:solidFill>
              </a:rPr>
              <a:t>Sem internet no ambiente de execução — impossível baixar o arquivo original (~1 GB).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03999" y="1854000"/>
            <a:ext cx="11340000" cy="324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1">
                <a:solidFill>
                  <a:srgbClr val="888899"/>
                </a:solidFill>
              </a:rPr>
              <a:t>Impacto: números absolutos não comparáveis à literatura. Padrões qualitativos preservados.</a:t>
            </a:r>
          </a:p>
        </p:txBody>
      </p:sp>
      <p:sp>
        <p:nvSpPr>
          <p:cNvPr id="13" name="Rectangle 12"/>
          <p:cNvSpPr/>
          <p:nvPr/>
        </p:nvSpPr>
        <p:spPr>
          <a:xfrm>
            <a:off x="288000" y="2592000"/>
            <a:ext cx="144000" cy="1152000"/>
          </a:xfrm>
          <a:prstGeom prst="rect">
            <a:avLst/>
          </a:prstGeom>
          <a:solidFill>
            <a:srgbClr val="F372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503999" y="2610000"/>
            <a:ext cx="11340000" cy="30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3722C"/>
                </a:solidFill>
              </a:rPr>
              <a:t>Volume reduzido: 3.000 casos vs. 31.509 reais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03999" y="2898000"/>
            <a:ext cx="11340000" cy="28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222233"/>
                </a:solidFill>
              </a:rPr>
              <a:t>Restrição de desempenho computacional do ambiente sem bibliotecas otimizadas.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03999" y="3186000"/>
            <a:ext cx="11340000" cy="324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1">
                <a:solidFill>
                  <a:srgbClr val="888899"/>
                </a:solidFill>
              </a:rPr>
              <a:t>Impacto: algumas métricas estatísticas podem ser menos robustas em dados reais.</a:t>
            </a:r>
          </a:p>
        </p:txBody>
      </p:sp>
      <p:sp>
        <p:nvSpPr>
          <p:cNvPr id="17" name="Rectangle 16"/>
          <p:cNvSpPr/>
          <p:nvPr/>
        </p:nvSpPr>
        <p:spPr>
          <a:xfrm>
            <a:off x="288000" y="3924000"/>
            <a:ext cx="144000" cy="1152000"/>
          </a:xfrm>
          <a:prstGeom prst="rect">
            <a:avLst/>
          </a:prstGeom>
          <a:solidFill>
            <a:srgbClr val="2A6F9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503999" y="3942000"/>
            <a:ext cx="11340000" cy="30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2A6F97"/>
                </a:solidFill>
              </a:rPr>
              <a:t>Algoritmos implementados do zero, sem PM4Py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03999" y="4230000"/>
            <a:ext cx="11340000" cy="28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222233"/>
                </a:solidFill>
              </a:rPr>
              <a:t>PM4Py indisponível. Implementações didáticas — não validadas contra benchmark.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03999" y="4518000"/>
            <a:ext cx="11340000" cy="324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1">
                <a:solidFill>
                  <a:srgbClr val="888899"/>
                </a:solidFill>
              </a:rPr>
              <a:t>Impacto: valores de fitness/precision são aproximações, não resultados de produção.</a:t>
            </a:r>
          </a:p>
        </p:txBody>
      </p:sp>
      <p:sp>
        <p:nvSpPr>
          <p:cNvPr id="21" name="Rectangle 20"/>
          <p:cNvSpPr/>
          <p:nvPr/>
        </p:nvSpPr>
        <p:spPr>
          <a:xfrm>
            <a:off x="288000" y="5256000"/>
            <a:ext cx="144000" cy="1152000"/>
          </a:xfrm>
          <a:prstGeom prst="rect">
            <a:avLst/>
          </a:prstGeom>
          <a:solidFill>
            <a:srgbClr val="52B69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503999" y="5274000"/>
            <a:ext cx="11340000" cy="30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52B69A"/>
                </a:solidFill>
              </a:rPr>
              <a:t>Heuristic Miner não implementado separadamente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503999" y="5562000"/>
            <a:ext cx="11340000" cy="28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222233"/>
                </a:solidFill>
              </a:rPr>
              <a:t>Representado pelo DFG filtrado por frequência — conceito equivalente, não idêntico.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503999" y="5850000"/>
            <a:ext cx="11340000" cy="324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1">
                <a:solidFill>
                  <a:srgbClr val="888899"/>
                </a:solidFill>
              </a:rPr>
              <a:t>Trabalho futuro: implementar com métricas de dependência estatística formais.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3200" cy="6858000"/>
          </a:xfrm>
          <a:prstGeom prst="rect">
            <a:avLst/>
          </a:prstGeom>
          <a:solidFill>
            <a:srgbClr val="1E496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16000" cy="6858000"/>
          </a:xfrm>
          <a:prstGeom prst="rect">
            <a:avLst/>
          </a:prstGeom>
          <a:solidFill>
            <a:srgbClr val="52B69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5580000"/>
            <a:ext cx="12193200" cy="1278000"/>
          </a:xfrm>
          <a:prstGeom prst="rect">
            <a:avLst/>
          </a:prstGeom>
          <a:solidFill>
            <a:srgbClr val="122D4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40000" y="540000"/>
            <a:ext cx="10800000" cy="54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000" b="1" i="0">
                <a:solidFill>
                  <a:srgbClr val="FFFFFF"/>
                </a:solidFill>
              </a:rPr>
              <a:t>Conclusão</a:t>
            </a:r>
          </a:p>
        </p:txBody>
      </p:sp>
      <p:sp>
        <p:nvSpPr>
          <p:cNvPr id="6" name="Rectangle 5"/>
          <p:cNvSpPr/>
          <p:nvPr/>
        </p:nvSpPr>
        <p:spPr>
          <a:xfrm>
            <a:off x="432000" y="1080000"/>
            <a:ext cx="9000000" cy="36000"/>
          </a:xfrm>
          <a:prstGeom prst="rect">
            <a:avLst/>
          </a:prstGeom>
          <a:solidFill>
            <a:srgbClr val="52B69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432000" y="1368000"/>
            <a:ext cx="144000" cy="468000"/>
          </a:xfrm>
          <a:prstGeom prst="rect">
            <a:avLst/>
          </a:prstGeom>
          <a:solidFill>
            <a:srgbClr val="52B69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20000" y="1368000"/>
            <a:ext cx="10980000" cy="54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FFFFFF"/>
                </a:solidFill>
              </a:rPr>
              <a:t>Pipeline completo de Process Mining: EDA, descoberta, conformance e performance</a:t>
            </a:r>
          </a:p>
        </p:txBody>
      </p:sp>
      <p:sp>
        <p:nvSpPr>
          <p:cNvPr id="9" name="Rectangle 8"/>
          <p:cNvSpPr/>
          <p:nvPr/>
        </p:nvSpPr>
        <p:spPr>
          <a:xfrm>
            <a:off x="432000" y="2088000"/>
            <a:ext cx="144000" cy="468000"/>
          </a:xfrm>
          <a:prstGeom prst="rect">
            <a:avLst/>
          </a:prstGeom>
          <a:solidFill>
            <a:srgbClr val="52B69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20000" y="2088000"/>
            <a:ext cx="10980000" cy="54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FFFFFF"/>
                </a:solidFill>
              </a:rPr>
              <a:t>169 variantes de execução — processo real substancialmente mais complexo que o ideal</a:t>
            </a:r>
          </a:p>
        </p:txBody>
      </p:sp>
      <p:sp>
        <p:nvSpPr>
          <p:cNvPr id="11" name="Rectangle 10"/>
          <p:cNvSpPr/>
          <p:nvPr/>
        </p:nvSpPr>
        <p:spPr>
          <a:xfrm>
            <a:off x="432000" y="2808000"/>
            <a:ext cx="144000" cy="468000"/>
          </a:xfrm>
          <a:prstGeom prst="rect">
            <a:avLst/>
          </a:prstGeom>
          <a:solidFill>
            <a:srgbClr val="52B69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720000" y="2808000"/>
            <a:ext cx="10980000" cy="54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FFFFFF"/>
                </a:solidFill>
              </a:rPr>
              <a:t>Gargalos em etapas humanas com espera média superior a 25 horas</a:t>
            </a:r>
          </a:p>
        </p:txBody>
      </p:sp>
      <p:sp>
        <p:nvSpPr>
          <p:cNvPr id="13" name="Rectangle 12"/>
          <p:cNvSpPr/>
          <p:nvPr/>
        </p:nvSpPr>
        <p:spPr>
          <a:xfrm>
            <a:off x="432000" y="3528000"/>
            <a:ext cx="144000" cy="468000"/>
          </a:xfrm>
          <a:prstGeom prst="rect">
            <a:avLst/>
          </a:prstGeom>
          <a:solidFill>
            <a:srgbClr val="52B69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720000" y="3528000"/>
            <a:ext cx="10980000" cy="54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FFFFFF"/>
                </a:solidFill>
              </a:rPr>
              <a:t>Trade-off fitness/precision: Inductive Miner (0,997/0,066) vs Alpha Miner equilibrado</a:t>
            </a:r>
          </a:p>
        </p:txBody>
      </p:sp>
      <p:sp>
        <p:nvSpPr>
          <p:cNvPr id="15" name="Rectangle 14"/>
          <p:cNvSpPr/>
          <p:nvPr/>
        </p:nvSpPr>
        <p:spPr>
          <a:xfrm>
            <a:off x="432000" y="4248000"/>
            <a:ext cx="144000" cy="468000"/>
          </a:xfrm>
          <a:prstGeom prst="rect">
            <a:avLst/>
          </a:prstGeom>
          <a:solidFill>
            <a:srgbClr val="52B69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720000" y="4248000"/>
            <a:ext cx="10980000" cy="54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FFFFFF"/>
                </a:solidFill>
              </a:rPr>
              <a:t>Metodologia robusta mesmo sem PM4Py e sem dataset real — limitações explicitadas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40000" y="5760000"/>
            <a:ext cx="10080000" cy="324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888899"/>
                </a:solidFill>
              </a:rPr>
              <a:t>Grupo G5  |  Michelangelo · João Marcos · André · Daniel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1520000" y="5760000"/>
            <a:ext cx="540000" cy="324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200" b="0" i="0">
                <a:solidFill>
                  <a:srgbClr val="888899"/>
                </a:solidFill>
              </a:rPr>
              <a:t>15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3200" cy="6858000"/>
          </a:xfrm>
          <a:prstGeom prst="rect">
            <a:avLst/>
          </a:prstGeom>
          <a:solidFill>
            <a:srgbClr val="1E496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16000" cy="6858000"/>
          </a:xfrm>
          <a:prstGeom prst="rect">
            <a:avLst/>
          </a:prstGeom>
          <a:solidFill>
            <a:srgbClr val="F372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0000" y="1800000"/>
            <a:ext cx="10800000" cy="9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4800" b="1" i="0">
                <a:solidFill>
                  <a:srgbClr val="FFFFFF"/>
                </a:solidFill>
              </a:rPr>
              <a:t>Obrigado!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0000" y="2880000"/>
            <a:ext cx="10800000" cy="72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800" b="0" i="1">
                <a:solidFill>
                  <a:srgbClr val="52B69A"/>
                </a:solidFill>
              </a:rPr>
              <a:t>Perguntas?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0000" y="4860000"/>
            <a:ext cx="10800000" cy="36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0">
                <a:solidFill>
                  <a:srgbClr val="888899"/>
                </a:solidFill>
              </a:rPr>
              <a:t>Grupo G5 — Process Mining — Tema 4 — Mineração de Dados — UNIFESSPA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0000" y="5220000"/>
            <a:ext cx="10800000" cy="36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1">
                <a:solidFill>
                  <a:srgbClr val="888899"/>
                </a:solidFill>
              </a:rPr>
              <a:t>Repositório: github.com/Michelangelo-Costa/ProcessMining-Tema4-G5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520000" y="6408000"/>
            <a:ext cx="540000" cy="324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200" b="0" i="0">
                <a:solidFill>
                  <a:srgbClr val="888899"/>
                </a:solidFill>
              </a:rPr>
              <a:t>16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