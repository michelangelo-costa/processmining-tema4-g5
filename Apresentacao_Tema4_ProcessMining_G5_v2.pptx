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80000"/>
            <a:ext cx="12193200" cy="1278000"/>
          </a:xfrm>
          <a:prstGeom prst="rect">
            <a:avLst/>
          </a:prstGeom>
          <a:solidFill>
            <a:srgbClr val="1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216000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B69A"/>
                </a:solidFill>
              </a:rPr>
              <a:t>UNIVERSIDADE FEDERAL DO SUL E SUDESTE DO PARÁ — UNIFESSPA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40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9B8CC"/>
                </a:solidFill>
              </a:rPr>
              <a:t>Disciplina: Mineração de Dados  |  Prof. Adam D. F. dos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11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52B69A"/>
                </a:solidFill>
              </a:rPr>
              <a:t>TEMA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548000"/>
            <a:ext cx="111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Process Mining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D0E8"/>
                </a:solidFill>
              </a:rPr>
              <a:t>Descoberta de Processos e Conformance Checking
Aplicados ao BPI Challenge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34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Grupo G5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708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Michelangelo  ·  João Marcos  ·  André  ·  Daniel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5796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Marabá — PA, junho 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0" y="5796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Tópicos abordados na apresentação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125999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27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965"/>
                </a:solidFill>
              </a:rPr>
              <a:t>1. Introdução ao Process Mining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530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Contexto, conceitos fundamentais e motivação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925999"/>
            <a:ext cx="125999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1943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965"/>
                </a:solidFill>
              </a:rPr>
              <a:t>2. Dataset: BPI Challenge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196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Processo de concessão de empréstimos e adaptação metodológica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592000"/>
            <a:ext cx="125999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61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965"/>
                </a:solidFill>
              </a:rPr>
              <a:t>3. Metodologia e Implementação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862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Pipeline de 7 etapas — pm_toolkit.py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258000"/>
            <a:ext cx="125999" cy="54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32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6F97"/>
                </a:solidFill>
              </a:rPr>
              <a:t>4. Análise Exploratória (EDA)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528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Frequência, duração dos casos e variantes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924000"/>
            <a:ext cx="125999" cy="54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394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6F97"/>
                </a:solidFill>
              </a:rPr>
              <a:t>5. Process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" y="4194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DFG, Alpha Miner e Inductive Miner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590000"/>
            <a:ext cx="125999" cy="540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460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69A"/>
                </a:solidFill>
              </a:rPr>
              <a:t>6. Conformance Checking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860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Fitness, Precision, Generalization, Simplicity e desvios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5256000"/>
            <a:ext cx="125999" cy="540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00" y="527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722C"/>
                </a:solidFill>
              </a:rPr>
              <a:t>7. Performance Analysis e Gargalos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5526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Tempo de espera e identificação de bottlenecks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5922000"/>
            <a:ext cx="125999" cy="540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94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722C"/>
                </a:solidFill>
              </a:rPr>
              <a:t>8. Síntese, Limitações e Conclusão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192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Insights gerenciais e trabalhos futuros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 que é Process Mining?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Conectando BPM e Ciência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5472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68000"/>
            <a:ext cx="52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4965"/>
                </a:solidFill>
              </a:rPr>
              <a:t>O Problema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BPM tradicional usa modelos desenhados a priori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Frequentemente divergem do processo real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Process Mining extrai conhecimento diretamente dos event logs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Descobre o processo como ele realmente é executado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296000"/>
            <a:ext cx="5472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000" y="1368000"/>
            <a:ext cx="52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2B69A"/>
                </a:solidFill>
              </a:rPr>
              <a:t>3 Subtarefas Centrais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Process Discovery — descobrir o modelo real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Conformance Checking — comparar modelo x log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33"/>
                </a:solidFill>
              </a:rPr>
              <a:t>  Performance Analysis — identificar gargalos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00000"/>
            <a:ext cx="3671999" cy="1007999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3671999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Van der Aalst, 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3996000"/>
            <a:ext cx="34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0"/>
                </a:solidFill>
              </a:rPr>
              <a:t>Fundamento teórico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0" y="3600000"/>
            <a:ext cx="3671999" cy="1007999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8000" y="3671999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Event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8000" y="3996000"/>
            <a:ext cx="34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0"/>
                </a:solidFill>
              </a:rPr>
              <a:t>Dado de entrada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0000" y="3600000"/>
            <a:ext cx="3671999" cy="1007999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8000" y="3671999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Processo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8000" y="3996000"/>
            <a:ext cx="34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0"/>
                </a:solidFill>
              </a:rPr>
              <a:t>Resultado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Dataset: BPI Challenge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Adaptação metodológica por restrição de rede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522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68000"/>
            <a:ext cx="4968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4965"/>
                </a:solidFill>
              </a:rPr>
              <a:t>BPI Challenge 2017 (original)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Log real de concessão de empréstimos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Instituição financeira holandesa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31.509 casos | 1.202.267 eventos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26 atividades — 3 sub-processos: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Application / Offer / Workflow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Dataset padrão acadêmico (4TU ResearchData)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0" y="1296000"/>
            <a:ext cx="5580000" cy="28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8000" y="1368000"/>
            <a:ext cx="5328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3722C"/>
                </a:solidFill>
              </a:rPr>
              <a:t>Adaptação Adotada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Sem acesso à internet no ambiente usado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Impossível instalar PM4Py ou baixar .xes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Solução: log sintético deterministico (seed=42)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3.000 casos | 54.597 eventos | 23 atividades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Preserva: vocabulário, laços, ramificações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Validade estrutural, não quantitativa absoluta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4392000"/>
            <a:ext cx="11340000" cy="54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4446000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85020"/>
                </a:solidFill>
              </a:rPr>
              <a:t>Todas as limitações desta adaptação são documentadas no relatório (Seção 6 — Limitações).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Pipeline em 7 etapas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1475999" cy="151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Geração do log sintético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296000"/>
            <a:ext cx="1475999" cy="1512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8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8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Importação e limpeza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1999" y="1296000"/>
            <a:ext cx="1475999" cy="1512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3999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3999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Análise Exploratória (EDA)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8000" y="1296000"/>
            <a:ext cx="1475999" cy="151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Process Discovery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3999" y="1296000"/>
            <a:ext cx="1475999" cy="1512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5999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5999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Conformance Checking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0000" y="1296000"/>
            <a:ext cx="1475999" cy="1512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2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2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 e Gargalos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96000" y="1296000"/>
            <a:ext cx="1475999" cy="1512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8000" y="1350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8000" y="1835999"/>
            <a:ext cx="1296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Síntese e Interpretação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5999" y="1908000"/>
            <a:ext cx="180000" cy="10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3420000"/>
            <a:ext cx="1134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3456000"/>
            <a:ext cx="1116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6F97"/>
                </a:solidFill>
              </a:rPr>
              <a:t>Ferramentas e Implementação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Python 3  |  pandas / numpy  |  matplotlib / seaborn  |  graphviz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pm_toolkit.py — biblioteca própria: DFG, Alpha Miner, Inductive Miner,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conformance checking e performance analysis implementados do zero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Objetivo: independência de bibliotecas externas (PM4Py indisponível)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Análise Exploratória — 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3.000 casos · 54.597 eventos · 23 atividades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296000"/>
            <a:ext cx="2592000" cy="936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casos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1296000"/>
            <a:ext cx="2592000" cy="936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54.597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1296000"/>
            <a:ext cx="2592000" cy="936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18,20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eventos/caso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1296000"/>
            <a:ext cx="2592000" cy="936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8000" y="1332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8000" y="1800000"/>
            <a:ext cx="2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variantes</a:t>
            </a:r>
          </a:p>
        </p:txBody>
      </p:sp>
      <p:pic>
        <p:nvPicPr>
          <p:cNvPr id="21" name="Picture 20" descr="01_activity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580000" cy="4185000"/>
          </a:xfrm>
          <a:prstGeom prst="rect">
            <a:avLst/>
          </a:prstGeom>
        </p:spPr>
      </p:pic>
      <p:pic>
        <p:nvPicPr>
          <p:cNvPr id="22" name="Picture 21" descr="02_tempor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2412000"/>
            <a:ext cx="5580000" cy="279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8000" y="586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Frequência de atividades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2000" y="5868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Distribuição temporal dos eventos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Análise Exploratória — Duração e Variantes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Lead time e distribuição de variantes de execução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</a:t>
            </a:r>
          </a:p>
        </p:txBody>
      </p:sp>
      <p:pic>
        <p:nvPicPr>
          <p:cNvPr id="9" name="Picture 8" descr="03_case_dura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296000"/>
            <a:ext cx="5580000" cy="3487500"/>
          </a:xfrm>
          <a:prstGeom prst="rect">
            <a:avLst/>
          </a:prstGeom>
        </p:spPr>
      </p:pic>
      <p:pic>
        <p:nvPicPr>
          <p:cNvPr id="10" name="Picture 9" descr="05_top_vari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296000"/>
            <a:ext cx="5580000" cy="31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8000" y="5328000"/>
            <a:ext cx="5472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5364000"/>
            <a:ext cx="5328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Duração média: 4,82 dias (mediana 4,14 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P90: 8,43 d | Máximo: 39,17 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Cauda longa indica laços de re-trabalho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2000" y="5328000"/>
            <a:ext cx="5580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999" y="5364000"/>
            <a:ext cx="5436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169 variantes distintas de execução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Top 1 variante: 19,33% dos casos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Top 5 variantes: 44,47% dos casos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Distribuição de cauda longa típica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Process Discovery — DFG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Directly-Follows Graph: completo e filtrado (limiar 10%)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</a:t>
            </a:r>
          </a:p>
        </p:txBody>
      </p:sp>
      <p:pic>
        <p:nvPicPr>
          <p:cNvPr id="9" name="Picture 8" descr="06_df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5760000" cy="480951"/>
          </a:xfrm>
          <a:prstGeom prst="rect">
            <a:avLst/>
          </a:prstGeom>
        </p:spPr>
      </p:pic>
      <p:pic>
        <p:nvPicPr>
          <p:cNvPr id="10" name="Picture 9" descr="07_dfg_filtered_heur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260000"/>
            <a:ext cx="5760000" cy="46151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5652000"/>
            <a:ext cx="576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5688000"/>
            <a:ext cx="56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965"/>
                </a:solidFill>
              </a:rPr>
              <a:t>DFG Completo — todas as transições observadas no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5940000"/>
            <a:ext cx="56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Revela alta conectividade e laços de re-trabalho.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2000" y="5652000"/>
            <a:ext cx="558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999" y="5688000"/>
            <a:ext cx="54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69A"/>
                </a:solidFill>
              </a:rPr>
              <a:t>DFG Filtrado (≥10%) — happy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999" y="5940000"/>
            <a:ext cx="54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Equivalente conceitual ao Heuristic Miner.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Alpha Miner — Rede de Petri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23 places · 23 transições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9</a:t>
            </a:r>
          </a:p>
        </p:txBody>
      </p:sp>
      <p:pic>
        <p:nvPicPr>
          <p:cNvPr id="9" name="Picture 8" descr="08_alpha_miner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24000"/>
            <a:ext cx="7920000" cy="94138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52000" y="1224000"/>
            <a:ext cx="3528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4000" y="1296000"/>
            <a:ext cx="3311999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4965"/>
                </a:solidFill>
              </a:rPr>
              <a:t>Alpha Miner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Extrai relações de footprint do log: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causalidade (a → 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paralelismo (a ‖ 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exclusividade (a # 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Constrói rede de Petri a partir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dos pares maximais (YL)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Limitações: sensível a laços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curtos e ruído no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5112000"/>
            <a:ext cx="11700000" cy="900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999" y="5148000"/>
            <a:ext cx="115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Resultado: 23 places para 23 transições — número elevado, consistente com laços de re-trabalho e múltiplas ofertas do processo.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Fitness: 1,000 | Precision: 1,000 | Simplicity: 0,906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Conformance Checking —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Comparação entre os modelos descobertos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296000"/>
            <a:ext cx="11448000" cy="54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368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1368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1368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1368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Generaliz.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0000" y="1368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Simplicity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0000" y="1368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Arestas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872000"/>
            <a:ext cx="1144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1944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DFG filtrado (Heuristic)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0" y="1944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0,9893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1944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0000" y="1944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000" y="1944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60000" y="194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2448000"/>
            <a:ext cx="11448000" cy="540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520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Alpha Miner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0" y="2520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0000" y="2520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000" y="2520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0000" y="2520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0000" y="2520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00" y="3024000"/>
            <a:ext cx="11448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3096000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Inductive Miner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0" y="3096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0,9973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0000" y="3096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0,0664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0000" y="3096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0,0664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0000" y="3096000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0,1938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60000" y="3096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722C"/>
                </a:solidFill>
              </a:rPr>
              <a:t>422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3600000"/>
            <a:ext cx="11448000" cy="540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3671999"/>
            <a:ext cx="34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DFG completo (bruto)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0000" y="3671999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0000" y="3671999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0000" y="3671999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1,0000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0000" y="3671999"/>
            <a:ext cx="14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0,9058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0000" y="3671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33"/>
                </a:solidFill>
              </a:rPr>
              <a:t>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00" y="4320000"/>
            <a:ext cx="11448000" cy="18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000" y="4356000"/>
            <a:ext cx="11304000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Trade-off clássico no Inductive Miner: fitness 0,997 com precision 0,066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Assinatura do modelo flor — com 422 arestas permite combinações nunca observadas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Alpha Miner: modelo mais equilibrado para este log (fitness=1,0 / precision=1,0 / 29 arestas)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Precisão 1,0 dos modelos baseados em DFG é esperada por construção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Conformance Checking — Desvios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Top desvios contra o modelo DFG filtrado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11</a:t>
            </a:r>
          </a:p>
        </p:txBody>
      </p:sp>
      <p:pic>
        <p:nvPicPr>
          <p:cNvPr id="9" name="Picture 8" descr="09_conform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6480000" cy="3564000"/>
          </a:xfrm>
          <a:prstGeom prst="rect">
            <a:avLst/>
          </a:prstGeom>
        </p:spPr>
      </p:pic>
      <p:pic>
        <p:nvPicPr>
          <p:cNvPr id="10" name="Picture 9" descr="10_top_devi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0" y="1260000"/>
            <a:ext cx="5040000" cy="280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5472000"/>
            <a:ext cx="1170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5508000"/>
            <a:ext cx="1152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Laço de múltiplas ofertas (267 ocorr.): estruturalmente esperado no processo de empréstimos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Omissão de W_Handle leads (171): via alternativa conhecida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Ramificação de análise de fraude (126/78/48): exceção rara, mas processualmente distinta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Performance Analysis — Gargalos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Tempo de espera entre atividades consecutivas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12</a:t>
            </a:r>
          </a:p>
        </p:txBody>
      </p:sp>
      <p:pic>
        <p:nvPicPr>
          <p:cNvPr id="9" name="Picture 8" descr="11_bottlen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6660000" cy="3996000"/>
          </a:xfrm>
          <a:prstGeom prst="rect">
            <a:avLst/>
          </a:prstGeom>
        </p:spPr>
      </p:pic>
      <p:pic>
        <p:nvPicPr>
          <p:cNvPr id="10" name="Picture 9" descr="12_wait_by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000" y="1260000"/>
            <a:ext cx="4860000" cy="3645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0000" y="5472000"/>
            <a:ext cx="1134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99" y="5508000"/>
            <a:ext cx="1123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Maior gargalo: O_Sent → W_Call after offers (média 1,27 d; P90 2,70 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Todos os gargalos concentram-se em etapas de atendimento humano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Etapas automáticas (A_Submitted, O_Created) têm tempo próximo de zero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33"/>
                </a:solidFill>
              </a:rPr>
              <a:t>  Implicação: investimento em capacidade humana reduziria o lead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Síntese 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3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D0E8"/>
                </a:solidFill>
              </a:rPr>
              <a:t>O que o Process Mining revelou sobre o processo de empréstimos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296000"/>
            <a:ext cx="162000" cy="1080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332000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4965"/>
                </a:solidFill>
              </a:rPr>
              <a:t>Processo mais variável que o esperado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92000"/>
            <a:ext cx="1116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169 variantes — apenas 19,3% seguem o happy path. Laços de re-trabalho são a regra, não a exceção.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556000"/>
            <a:ext cx="162000" cy="1080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591999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69A"/>
                </a:solidFill>
              </a:rPr>
              <a:t>Gargalos são humanos, não tecnológicos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951999"/>
            <a:ext cx="1116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Etapas automáticas são instantâneas. O atraso está no contato pós-oferta e validação documental (&gt;25 h).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" y="3816000"/>
            <a:ext cx="162000" cy="1080000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851999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6F97"/>
                </a:solidFill>
              </a:rPr>
              <a:t>Modelos simples podem ser mais úteis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4212000"/>
            <a:ext cx="1116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Alpha Miner (29 arestas, precision=1,0) &gt; Inductive Miner (422 arestas, precision=0,07) para este log.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" y="5076000"/>
            <a:ext cx="162000" cy="1080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5112000"/>
            <a:ext cx="111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722C"/>
                </a:solidFill>
              </a:rPr>
              <a:t>Fitness alta não garante modelo útil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5472000"/>
            <a:ext cx="1116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33"/>
                </a:solidFill>
              </a:rPr>
              <a:t>O modelo flor prova que fitness=0,997 com precision=0,066 é analiticamente inútil.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Limitações e Trabalhos Futuros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52000"/>
            <a:ext cx="12193200" cy="432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552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99"/>
                </a:solidFill>
              </a:rPr>
              <a:t>Process Mining — Tema 4 | Grupo G5 — UNIFESSPA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0" y="6552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5400000" cy="37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368000"/>
            <a:ext cx="518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3722C"/>
                </a:solidFill>
              </a:rPr>
              <a:t>Limitações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Log sintético — sem ruído e outliers reais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3.000 casos vs 31.509 reais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Algoritmos próprios: sem validação vs PM4Py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Métricas heurísticas: não comparáveis 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token replay ou alignments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Heuristic Miner apenas aproximado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por DFG filtrado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1296000"/>
            <a:ext cx="5400000" cy="37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0" y="1368000"/>
            <a:ext cx="518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2B69A"/>
                </a:solidFill>
              </a:rPr>
              <a:t>Trabalhos Futuros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Reexecutar com o dataset BPI17 real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Usar PM4Py para validar implementações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Aplicar alignment-based conformance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Explorar Inductive Miner com filtragem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de ruído (IMf / IMlc)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Análise de recursos e perspectiva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33"/>
                </a:solidFill>
              </a:rPr>
              <a:t>  organizacional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80000"/>
            <a:ext cx="12193200" cy="1278000"/>
          </a:xfrm>
          <a:prstGeom prst="rect">
            <a:avLst/>
          </a:prstGeom>
          <a:solidFill>
            <a:srgbClr val="12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5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80000"/>
            <a:ext cx="9000000" cy="36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36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36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Pipeline completo de Process Mining: EDA, descoberta, conformance e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8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208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169 variantes de execução — processo real substancialmente mais complexo que o ideal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80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80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Gargalos em etapas humanas com espera média superior a 25 horas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52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Trade-off fitness/precision: Inductive Miner (0,997/0,066) vs Alpha Miner equilibrado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248000"/>
            <a:ext cx="144000" cy="46800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4248000"/>
            <a:ext cx="10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Metodologia robusta mesmo sem PM4Py e sem dataset real — limitações explicitadas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5760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Grupo G5  |  Michelangelo · João Marcos · André · Daniel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0" y="5760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F3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80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52B69A"/>
                </a:solidFill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8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99"/>
                </a:solidFill>
              </a:rPr>
              <a:t>Grupo G5 — Process Mining — Tema 4 — Mineração de Dados — UNIFESSPA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2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</a:rPr>
              <a:t>Repositório: github.com/Michelangelo-Costa/ProcessMining-Tema4-G5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6408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88899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